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4175" r:id="rId1"/>
  </p:sldMasterIdLst>
  <p:notesMasterIdLst>
    <p:notesMasterId r:id="rId2"/>
  </p:notesMasterIdLst>
  <p:handoutMasterIdLst>
    <p:handoutMasterId r:id="rId3"/>
  </p:handoutMasterIdLst>
  <p:sldIdLst>
    <p:sldId id="707" r:id="rId4"/>
    <p:sldId id="619" r:id="rId5"/>
    <p:sldId id="630" r:id="rId6"/>
    <p:sldId id="714" r:id="rId7"/>
    <p:sldId id="605" r:id="rId8"/>
    <p:sldId id="996" r:id="rId9"/>
    <p:sldId id="997" r:id="rId10"/>
    <p:sldId id="848" r:id="rId11"/>
    <p:sldId id="829" r:id="rId12"/>
    <p:sldId id="998" r:id="rId13"/>
    <p:sldId id="999" r:id="rId14"/>
    <p:sldId id="1000" r:id="rId15"/>
    <p:sldId id="1001" r:id="rId16"/>
    <p:sldId id="1002" r:id="rId17"/>
    <p:sldId id="1003" r:id="rId18"/>
    <p:sldId id="1004" r:id="rId19"/>
    <p:sldId id="766" r:id="rId20"/>
    <p:sldId id="765" r:id="rId21"/>
    <p:sldId id="1005" r:id="rId22"/>
    <p:sldId id="1006" r:id="rId23"/>
    <p:sldId id="1007" r:id="rId24"/>
    <p:sldId id="1008" r:id="rId25"/>
    <p:sldId id="1009" r:id="rId26"/>
    <p:sldId id="1010" r:id="rId27"/>
    <p:sldId id="1011" r:id="rId28"/>
    <p:sldId id="1012" r:id="rId29"/>
    <p:sldId id="1013" r:id="rId30"/>
    <p:sldId id="1014" r:id="rId31"/>
    <p:sldId id="1015" r:id="rId32"/>
    <p:sldId id="1016" r:id="rId33"/>
    <p:sldId id="1017" r:id="rId34"/>
    <p:sldId id="885" r:id="rId35"/>
    <p:sldId id="886" r:id="rId36"/>
    <p:sldId id="1018" r:id="rId37"/>
    <p:sldId id="1019" r:id="rId38"/>
    <p:sldId id="1020" r:id="rId39"/>
    <p:sldId id="1021" r:id="rId40"/>
    <p:sldId id="1022" r:id="rId41"/>
    <p:sldId id="1023" r:id="rId42"/>
    <p:sldId id="890" r:id="rId43"/>
    <p:sldId id="935" r:id="rId44"/>
    <p:sldId id="1024" r:id="rId45"/>
    <p:sldId id="1025" r:id="rId46"/>
    <p:sldId id="1026" r:id="rId47"/>
    <p:sldId id="1027" r:id="rId48"/>
    <p:sldId id="1028" r:id="rId49"/>
    <p:sldId id="1029" r:id="rId50"/>
    <p:sldId id="969" r:id="rId51"/>
    <p:sldId id="970" r:id="rId52"/>
    <p:sldId id="1030" r:id="rId53"/>
    <p:sldId id="1031" r:id="rId54"/>
    <p:sldId id="1032" r:id="rId55"/>
    <p:sldId id="1033" r:id="rId56"/>
    <p:sldId id="1034" r:id="rId57"/>
    <p:sldId id="1035" r:id="rId58"/>
    <p:sldId id="1036" r:id="rId59"/>
    <p:sldId id="1037" r:id="rId60"/>
    <p:sldId id="1038" r:id="rId61"/>
    <p:sldId id="875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895" autoAdjust="0"/>
    <p:restoredTop sz="94258" autoAdjust="0"/>
  </p:normalViewPr>
  <p:slideViewPr>
    <p:cSldViewPr snapToGrid="0">
      <p:cViewPr>
        <p:scale>
          <a:sx n="100" d="100"/>
          <a:sy n="100" d="100"/>
        </p:scale>
        <p:origin x="-1920" y="-84"/>
      </p:cViewPr>
      <p:guideLst>
        <p:guide orient="horz" pos="2159"/>
        <p:guide pos="2879"/>
      </p:guideLst>
    </p:cSldViewPr>
  </p:slideViewPr>
  <p:notesTextViewPr>
    <p:cViewPr>
      <p:scale>
        <a:sx n="40" d="100"/>
        <a:sy n="4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49"/>
      </p:guideLst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handoutMaster" Target="handoutMasters/handout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slide" Target="slides/slide29.xml"  /><Relationship Id="rId33" Type="http://schemas.openxmlformats.org/officeDocument/2006/relationships/slide" Target="slides/slide30.xml"  /><Relationship Id="rId34" Type="http://schemas.openxmlformats.org/officeDocument/2006/relationships/slide" Target="slides/slide31.xml"  /><Relationship Id="rId35" Type="http://schemas.openxmlformats.org/officeDocument/2006/relationships/slide" Target="slides/slide32.xml"  /><Relationship Id="rId36" Type="http://schemas.openxmlformats.org/officeDocument/2006/relationships/slide" Target="slides/slide33.xml"  /><Relationship Id="rId37" Type="http://schemas.openxmlformats.org/officeDocument/2006/relationships/slide" Target="slides/slide34.xml"  /><Relationship Id="rId38" Type="http://schemas.openxmlformats.org/officeDocument/2006/relationships/slide" Target="slides/slide35.xml"  /><Relationship Id="rId39" Type="http://schemas.openxmlformats.org/officeDocument/2006/relationships/slide" Target="slides/slide36.xml"  /><Relationship Id="rId4" Type="http://schemas.openxmlformats.org/officeDocument/2006/relationships/slide" Target="slides/slide1.xml"  /><Relationship Id="rId40" Type="http://schemas.openxmlformats.org/officeDocument/2006/relationships/slide" Target="slides/slide37.xml"  /><Relationship Id="rId41" Type="http://schemas.openxmlformats.org/officeDocument/2006/relationships/slide" Target="slides/slide38.xml"  /><Relationship Id="rId42" Type="http://schemas.openxmlformats.org/officeDocument/2006/relationships/slide" Target="slides/slide39.xml"  /><Relationship Id="rId43" Type="http://schemas.openxmlformats.org/officeDocument/2006/relationships/slide" Target="slides/slide40.xml"  /><Relationship Id="rId44" Type="http://schemas.openxmlformats.org/officeDocument/2006/relationships/slide" Target="slides/slide41.xml"  /><Relationship Id="rId45" Type="http://schemas.openxmlformats.org/officeDocument/2006/relationships/slide" Target="slides/slide42.xml"  /><Relationship Id="rId46" Type="http://schemas.openxmlformats.org/officeDocument/2006/relationships/slide" Target="slides/slide43.xml"  /><Relationship Id="rId47" Type="http://schemas.openxmlformats.org/officeDocument/2006/relationships/slide" Target="slides/slide44.xml"  /><Relationship Id="rId48" Type="http://schemas.openxmlformats.org/officeDocument/2006/relationships/slide" Target="slides/slide45.xml"  /><Relationship Id="rId49" Type="http://schemas.openxmlformats.org/officeDocument/2006/relationships/slide" Target="slides/slide46.xml"  /><Relationship Id="rId5" Type="http://schemas.openxmlformats.org/officeDocument/2006/relationships/slide" Target="slides/slide2.xml"  /><Relationship Id="rId50" Type="http://schemas.openxmlformats.org/officeDocument/2006/relationships/slide" Target="slides/slide47.xml"  /><Relationship Id="rId51" Type="http://schemas.openxmlformats.org/officeDocument/2006/relationships/slide" Target="slides/slide48.xml"  /><Relationship Id="rId52" Type="http://schemas.openxmlformats.org/officeDocument/2006/relationships/slide" Target="slides/slide49.xml"  /><Relationship Id="rId53" Type="http://schemas.openxmlformats.org/officeDocument/2006/relationships/slide" Target="slides/slide50.xml"  /><Relationship Id="rId54" Type="http://schemas.openxmlformats.org/officeDocument/2006/relationships/slide" Target="slides/slide51.xml"  /><Relationship Id="rId55" Type="http://schemas.openxmlformats.org/officeDocument/2006/relationships/slide" Target="slides/slide52.xml"  /><Relationship Id="rId56" Type="http://schemas.openxmlformats.org/officeDocument/2006/relationships/slide" Target="slides/slide53.xml"  /><Relationship Id="rId57" Type="http://schemas.openxmlformats.org/officeDocument/2006/relationships/slide" Target="slides/slide54.xml"  /><Relationship Id="rId58" Type="http://schemas.openxmlformats.org/officeDocument/2006/relationships/slide" Target="slides/slide55.xml"  /><Relationship Id="rId59" Type="http://schemas.openxmlformats.org/officeDocument/2006/relationships/slide" Target="slides/slide56.xml"  /><Relationship Id="rId6" Type="http://schemas.openxmlformats.org/officeDocument/2006/relationships/slide" Target="slides/slide3.xml"  /><Relationship Id="rId60" Type="http://schemas.openxmlformats.org/officeDocument/2006/relationships/slide" Target="slides/slide57.xml"  /><Relationship Id="rId61" Type="http://schemas.openxmlformats.org/officeDocument/2006/relationships/slide" Target="slides/slide58.xml"  /><Relationship Id="rId62" Type="http://schemas.openxmlformats.org/officeDocument/2006/relationships/slide" Target="slides/slide59.xml"  /><Relationship Id="rId63" Type="http://schemas.openxmlformats.org/officeDocument/2006/relationships/presProps" Target="presProps.xml"  /><Relationship Id="rId64" Type="http://schemas.openxmlformats.org/officeDocument/2006/relationships/viewProps" Target="viewProps.xml"  /><Relationship Id="rId65" Type="http://schemas.openxmlformats.org/officeDocument/2006/relationships/theme" Target="theme/theme1.xml"  /><Relationship Id="rId66" Type="http://schemas.openxmlformats.org/officeDocument/2006/relationships/tableStyles" Target="tableStyles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fld id="{44B68EE0-4410-487B-8EF2-AB4C8DC9B547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fld id="{81967304-A513-47CF-AA1B-1F2A36BB6376}" type="slidenum">
              <a:rPr lang="de-DE" altLang="ko-KR"/>
              <a:pPr lvl="0"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967304-A513-47CF-AA1B-1F2A36BB6376}" type="slidenum">
              <a:rPr lang="en-US" altLang="ko-KR"/>
              <a:pPr lvl="0"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4.png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제목 슬라이드1" preserve="1" userDrawn="1">
  <p:cSld name="2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029" name="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6998660" y="234824"/>
            <a:ext cx="1795320" cy="649108"/>
          </a:xfrm>
          <a:prstGeom prst="rect">
            <a:avLst/>
          </a:prstGeom>
        </p:spPr>
      </p:pic>
      <p:sp>
        <p:nvSpPr>
          <p:cNvPr id="1030" name=""/>
          <p:cNvSpPr txBox="1"/>
          <p:nvPr userDrawn="1"/>
        </p:nvSpPr>
        <p:spPr>
          <a:xfrm>
            <a:off x="2286000" y="5631831"/>
            <a:ext cx="45720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p>
            <a:pPr marL="0" lvl="0" indent="0" algn="ctr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메타버스의 이해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34" name="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524000" y="914006"/>
            <a:ext cx="6057900" cy="408622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목차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학습목표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501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학습 목표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/>
              <a:buChar char="•"/>
              <a:defRPr sz="18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섹션 목차" preserve="1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8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6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4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본문2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pic>
        <p:nvPicPr>
          <p:cNvPr id="14" name="그림 29" descr="쿡북로고.jpg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 w="9525">
            <a:noFill/>
            <a:miter/>
          </a:ln>
        </p:spPr>
      </p:pic>
      <p:cxnSp>
        <p:nvCxnSpPr>
          <p:cNvPr id="16" name="직선 연결선 15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1_끝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Relationship Id="rId9" Type="http://schemas.openxmlformats.org/officeDocument/2006/relationships/image" Target="../media/image4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preserve="1">
  <p:cSld name="Office 테마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 idx="0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3C4A7B72-6AE8-49C2-8F32-E8A725FD610D}" type="datetime1">
              <a:rPr lang="ko-KR" altLang="en-US"/>
              <a:pPr lvl="0">
                <a:defRPr/>
              </a:pPr>
              <a:t>2023-05-03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52DD98C4-AD35-4759-9571-E1AA62A00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</p:sldLayoutIdLst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3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4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7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8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9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0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1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2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3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4.png"  /><Relationship Id="rId3" Type="http://schemas.openxmlformats.org/officeDocument/2006/relationships/image" Target="../media/image34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7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2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3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4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9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0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1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4.png"  /><Relationship Id="rId3" Type="http://schemas.openxmlformats.org/officeDocument/2006/relationships/image" Target="../media/image55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8.png"  /><Relationship Id="rId3" Type="http://schemas.openxmlformats.org/officeDocument/2006/relationships/image" Target="../media/image59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hyperlink" Target="https://getbootstrap.kr/" TargetMode="External" /><Relationship Id="rId3" Type="http://schemas.openxmlformats.org/officeDocument/2006/relationships/image" Target="../media/image62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3.png"  /><Relationship Id="rId3" Type="http://schemas.openxmlformats.org/officeDocument/2006/relationships/image" Target="../media/image64.png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5.png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6.png"  /><Relationship Id="rId3" Type="http://schemas.openxmlformats.org/officeDocument/2006/relationships/image" Target="../media/image67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68.png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852" y="570411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lvl="0">
              <a:defRPr/>
            </a:pPr>
            <a:endParaRPr lang="ko-KR" altLang="en-US" sz="3600"/>
          </a:p>
        </p:txBody>
      </p:sp>
      <p:sp>
        <p:nvSpPr>
          <p:cNvPr id="3" name="TextBox 2"/>
          <p:cNvSpPr txBox="1"/>
          <p:nvPr/>
        </p:nvSpPr>
        <p:spPr>
          <a:xfrm>
            <a:off x="378823" y="5643154"/>
            <a:ext cx="8386354" cy="91440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전기의 기본 개념과 팅커캐드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"/>
          <p:cNvSpPr/>
          <p:nvPr/>
        </p:nvSpPr>
        <p:spPr>
          <a:xfrm>
            <a:off x="0" y="5380463"/>
            <a:ext cx="9144000" cy="14775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8" name=""/>
          <p:cNvSpPr txBox="1"/>
          <p:nvPr/>
        </p:nvSpPr>
        <p:spPr>
          <a:xfrm>
            <a:off x="87313" y="5631831"/>
            <a:ext cx="8953499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 lnSpcReduction="10000"/>
          </a:bodyPr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&lt;10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Node.js 시작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1"/>
          <p:cNvSpPr>
            <a:spLocks noGrp="1"/>
          </p:cNvSpPr>
          <p:nvPr/>
        </p:nvSpPr>
        <p:spPr>
          <a:xfrm>
            <a:off x="719572" y="1749574"/>
            <a:ext cx="7966793" cy="410445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서버의 개념과 구성 요소들을 이해한다.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Node.js로 서버를 만드는 이유를 이해한다.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express를 설치하고 간단한 웹 서버를 만든다.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기본적인 GET 요청 처리 루틴을 이해하고 코드로 작성한다.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01 Node.js</a:t>
            </a:r>
            <a:endParaRPr lang="en-US" altLang="ko-KR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02</a:t>
            </a:r>
            <a:r>
              <a:rPr lang="ko-KR" altLang="en-US" sz="2100" b="1">
                <a:latin typeface="맑은 고딕"/>
                <a:ea typeface="맑은 고딕"/>
              </a:rPr>
              <a:t> 서버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03 </a:t>
            </a:r>
            <a:r>
              <a:rPr lang="ko-KR" altLang="en-US" sz="2100" b="1">
                <a:latin typeface="맑은 고딕"/>
                <a:ea typeface="맑은 고딕"/>
              </a:rPr>
              <a:t>Node.js로 서버를 만드는 이유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04</a:t>
            </a:r>
            <a:r>
              <a:rPr lang="ko-KR" altLang="en-US" sz="2100" b="1">
                <a:latin typeface="맑은 고딕"/>
                <a:ea typeface="맑은 고딕"/>
              </a:rPr>
              <a:t> express 기반의 웹 서버 생성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05</a:t>
            </a:r>
            <a:r>
              <a:rPr lang="ko-KR" altLang="en-US" sz="2100" b="1">
                <a:latin typeface="맑은 고딕"/>
                <a:ea typeface="맑은 고딕"/>
              </a:rPr>
              <a:t> 기본적인 GET 요청 처리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06</a:t>
            </a:r>
            <a:r>
              <a:rPr lang="ko-KR" altLang="en-US" sz="2100" b="1">
                <a:latin typeface="맑은 고딕"/>
                <a:ea typeface="맑은 고딕"/>
              </a:rPr>
              <a:t> 서버에서 HTML 파일 전송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2100" b="1">
                <a:latin typeface="맑은 고딕"/>
                <a:ea typeface="맑은 고딕"/>
              </a:rPr>
              <a:t>07</a:t>
            </a:r>
            <a:r>
              <a:rPr lang="ko-KR" altLang="en-US" sz="2100" b="1">
                <a:latin typeface="맑은 고딕"/>
                <a:ea typeface="맑은 고딕"/>
              </a:rPr>
              <a:t> 프로미스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1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en-US" altLang="ko-KR" sz="2400" b="1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Node.js</a:t>
            </a:r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01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Node.js란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공식 홈페이지에서 이야기하는 Node.js는 비동기 이벤트 주도의 확장성 있는 네트워크 애플리케이션을 만들 수 있는 자바스크립트 런타임이라고 정의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주목해야 할 용어는 바로 ‘자바스크립트 런타임’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자바스크립트를 실행해 주는 실행 환경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V8 엔진이란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V8 엔진이란 구글이 만든 자바스크립트 기반의 웹어셈블리 엔진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자바스크립트 코드 실행 전에 최적화된 기계어로 컴파일하는 엔진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자바스크립트 코드를 인터프리터 방식으로 해석하지 않고 즉시 기계어로 컴파일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Node.js</a:t>
            </a:r>
            <a:endParaRPr lang="en-US" altLang="ko-KR"/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43287" y="4762344"/>
            <a:ext cx="2257425" cy="1924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Node.js의 탄생 배경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기존 브라우저의 자바스크립트 해석은 다음과 같이 브라우저의 내부 엔진에서 진행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크롬, 파이어폭스, 사파리와 같은 브라우저에는 각각의 자바스크립트 해석 엔진이 내장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Node.js</a:t>
            </a:r>
            <a:endParaRPr lang="en-US" altLang="ko-KR"/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5975" y="2419748"/>
            <a:ext cx="4972050" cy="2018503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8870" y="4471717"/>
            <a:ext cx="5046260" cy="2181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endParaRPr lang="ko-KR" altLang="en-US" b="1"/>
          </a:p>
          <a:p>
            <a:pPr lvl="1">
              <a:defRPr/>
            </a:pPr>
            <a:r>
              <a:rPr lang="en-US" altLang="ko-KR"/>
              <a:t>Node.js</a:t>
            </a:r>
            <a:endParaRPr lang="en-US" altLang="ko-KR"/>
          </a:p>
          <a:p>
            <a:pPr lvl="2">
              <a:defRPr/>
            </a:pPr>
            <a:r>
              <a:rPr lang="ko-KR" altLang="en-US"/>
              <a:t>브라우저 기반이 아닌 Node.js만으로 자바스크립트 문법 실행 가능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Node.js</a:t>
            </a:r>
            <a:endParaRPr lang="en-US" altLang="ko-KR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38300" y="2514600"/>
            <a:ext cx="5867400" cy="2800350"/>
          </a:xfrm>
          <a:prstGeom prst="rect">
            <a:avLst/>
          </a:prstGeom>
        </p:spPr>
      </p:pic>
      <p:pic>
        <p:nvPicPr>
          <p:cNvPr id="3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962" y="1176338"/>
            <a:ext cx="1724025" cy="54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서버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02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서비스를 제공하는 컴퓨터, 서버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테니스, 탁구, 배구 등 서브를 하는 쪽, 또는 그 사람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음식물을 제공하기 위해 사용하는 도구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네트워크에서 다른 컴퓨터나 소프트웨어와 같은 클라이언트에게 서비스를 제공하는 컴퓨터</a:t>
            </a:r>
            <a:endParaRPr lang="ko-KR" altLang="en-US"/>
          </a:p>
          <a:p>
            <a:pPr marL="447675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서버는 ‘제공한다’는 뜻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95637" y="2912738"/>
            <a:ext cx="4200525" cy="3842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서비스를 제공하는 컴퓨터, 서버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서버의 역할은 요청이 들어왔을 때 해당 요청에 대한 서비스를 제공하는 것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9636" y="1992471"/>
            <a:ext cx="7344727" cy="2358706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66788" y="4358303"/>
            <a:ext cx="7210423" cy="23419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아이피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인터넷에 연결되어 있는 모든 장치를 식별할수 있도록 부여되는 고유주소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아이피 주소는 32비트의 숫자로 구성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실행창에서 열기에 ‘cmd’라고 입력한 다음 &lt;확인&gt; 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길벗 사이트의 아이피를 알아보기 위해 ‘nslookup gilbut.co.kr’ 입력 후 </a:t>
            </a:r>
            <a:r>
              <a:rPr lang="en-US" altLang="ko-KR"/>
              <a:t>󰎠</a:t>
            </a:r>
            <a:r>
              <a:rPr lang="ko-KR" altLang="en-US"/>
              <a:t> 누르기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9587" y="3609975"/>
            <a:ext cx="3057525" cy="1619250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19499" y="3617680"/>
            <a:ext cx="4857751" cy="2632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아이피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아이피 주소를 브라우저 입력창에 입력하면 길벗 사이트로 접속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아이피와 매핑된 도메인 주소라는 것을 통해 쉽게 접근 가능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47850" y="4162425"/>
            <a:ext cx="7086600" cy="269557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6262" y="2452688"/>
            <a:ext cx="4810125" cy="2162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아이피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친구의 집에 놀러갈 때 보통 누구네 집으로 기억하고 찾아가는 것이지 집 주소를 기억하고 찾아가지 않는 것과 같은 원리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‘gilbut.co.kr’로 기억하고 찾아가는 것이지 ‘49.236.151.220’으로 기억하고 찾아가는 것이 아니라는 뜻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4925" y="3024187"/>
            <a:ext cx="6534150" cy="3267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아이피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고정 아이피와 유동 아이피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고정 아이피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말 그대로 컴퓨터에 고정적으로 부여된 아이피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한번 부여되면 아이피를 반납하기 전까지 다른 장비에 부여할 수 없는 고유 아이피로 보안성이 우수하여 보안이 필요한 업체나 기관에서 사용</a:t>
            </a:r>
            <a:endParaRPr lang="ko-KR" altLang="en-US"/>
          </a:p>
          <a:p>
            <a:pPr lvl="3">
              <a:defRPr/>
            </a:pPr>
            <a:endParaRPr lang="ko-KR" altLang="en-US"/>
          </a:p>
          <a:p>
            <a:pPr lvl="2">
              <a:defRPr/>
            </a:pPr>
            <a:r>
              <a:rPr lang="ko-KR" altLang="en-US"/>
              <a:t>유동 아이피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사용자들이 인터넷에 접속하는 매 순간마다 사용하고 있지 않는 아이피 주소를 임시로 발급해 주는 아이피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일반적으로 가정용으로 사용하는 아이피 대부분은 유동 아이피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2" y="1176338"/>
            <a:ext cx="1724025" cy="54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포트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내가 원하는 서버 애플리케이션이 응답할 수 있게 하려면 어떻게 해야 할까?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8625" y="2128837"/>
            <a:ext cx="8286750" cy="3990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포트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사전적 의미로 ‘항구’라는 뜻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항구의 역할은 선박이 안전하게 정박할 수 있도록 하는 것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비슷한 의미로 네트워크에서의 포트 또한 클라이언트 요청의 정확한 도착 지점 설정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각각의 서버는 필수적으로 포트 번호를 가짐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서버</a:t>
            </a: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4399" y="3008689"/>
            <a:ext cx="7315201" cy="3545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Node.js로 서버를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만드는 이유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03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웹 서버 개발에 최적화되어 있는 Node.js</a:t>
            </a: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자바스크립트의  V8을 분리하여 독립적으로 실행할 수 있도록 만든 것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크롬에서 사용되는 V8 엔진을 웹 서버 등 다른 환경에서도 활용할 수 있게 가능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비동기 이벤트 주도 자바스크립트 런타임으로써 Node.js는 확장성 있는 네트워크애플리케이션을 만들 수 있도록 설계되어 있다.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Node.js의 본질은 독립적인 자바스크립트 실행기로, 플랫폼에 상관없이 자바스크립트 코드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기반이면 어떤 것이든 실행시킬 수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있는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것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Node.js는 웹 서버 개발에 최적화되어 있다는 의미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개발에 최적화되어 있는 Node.js로 서버를 만드는 것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About 메뉴에서 ‘Node.js를 이용하여 다음과 같이 웹 서버를 만들어보세요.’라는 샘플 코드를 복사하여 서버 생성하기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(1)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드라이브에 폴더를 하나 생성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(2)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비주얼 스튜디오 코드(Visual StudioCode)를 실행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81224" y="3171824"/>
            <a:ext cx="1219200" cy="1295400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2363" y="3219450"/>
            <a:ext cx="4238625" cy="3152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About 메뉴에서 ‘Node.js를 이용하여 다음과 같이 웹 서버를 만들어보세요.’라는 샘플 코드를 복사하여 서버 생성하기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(3)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메뉴에서 〔파일〕 → 〔폴더 열기〕를 클릭하고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(1)</a:t>
            </a:r>
            <a:r>
              <a: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에서 생성한 폴더를 선택</a:t>
            </a: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5" y="2803554"/>
            <a:ext cx="8477250" cy="3498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About 메뉴에서 ‘Node.js를 이용하여 다음과 같이 웹 서버를 만들어보세요.’라는 샘플 코드를 복사하여 서버 생성하기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(4)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SERVER 폴더를 선택하고 ‘새 파일’ 아이콘을 클릭하여 ‘httpServer.js’라는 이름의 새 파일을 생성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43125" y="2848534"/>
            <a:ext cx="4857750" cy="3904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About 메뉴에서 ‘Node.js를 이용하여 다음과 같이 웹 서버를 만들어보세요.’라는 샘플 코드를 복사하여 서버 생성하기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(5)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‘httpServer.js’ 파일에 복사한 코드 붙여넣기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73775" y="2642363"/>
            <a:ext cx="6596449" cy="4106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코드 실행</a:t>
            </a: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메뉴의 〔터미널〕 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〔새 터미널〕을 클릭하고 터미널에 명령어 입력</a:t>
            </a: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󰎠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를 눌러 ‘Server running at http://127.0.0.1:3000/’ 메시지가 표시되면 성공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0050" y="2447925"/>
            <a:ext cx="8343900" cy="685800"/>
          </a:xfrm>
          <a:prstGeom prst="rect">
            <a:avLst/>
          </a:prstGeom>
        </p:spPr>
      </p:pic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04925" y="3867150"/>
            <a:ext cx="6534150" cy="2352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http 모듈 기반의 웹 서버 제작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코드 실행</a:t>
            </a: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서버는 구동되어 현재 127.0.0.1의 주소 기반의 3000번 포트에서 리스닝하며 대기중인 상태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웹 브라우저에서 해당 아이피와 포트로 접속하면 현재 대기중인 서버에 접속되고 9번째 줄 코드에 의해 브라우저로 “Hello World”라는 문자열을 반환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81287" y="3300412"/>
            <a:ext cx="3781425" cy="239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이벤트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이벤트란 사전적 의미로 ‘사건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’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으로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사건은 본질적으로 발생하는 것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이벤트 기반(event-driven) 시스템은 요청이 발생하는 이벤트를 처리하는 시스템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이벤트가 발생하면 이벤트에 대한 처리를 위해 이벤트와 연결된 이벤트 리스너가 존재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가독성 향상을 위해 이벤트 리스너에 콜백 함수 등록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86402" y="3049685"/>
            <a:ext cx="4371195" cy="38083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Non-blocking I/O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Node.js 동작 방식의 가장 큰 특징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서버의 역할이 서비스를 제공하는 역할이라고 할 때, 커피를 제공하는 카페는 서버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한 사람씩 요청이 차례대로 들어오면 서버인 카페에서는 요청 순서대로 처리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9625" y="2733675"/>
            <a:ext cx="7524750" cy="390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Non-blocking I/O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만약 중간에 어떤 사람이 커피 100잔을 주문한다면 어떻게 처리해야 할까?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9137" y="2200275"/>
            <a:ext cx="7705725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Non-blocking I/O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문제를 해결할 수 있는 것이 바로 Node.js의 논블로킹 방식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논블로킹 방식은 일단 들어오는 모든 요청을 다 접수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이후 각각의 요청을 먼저 와도 늦게 와도 순서에 상관없이 커피는 빨리 완료된 것부터 나오게 처리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1087" y="2971680"/>
            <a:ext cx="6981824" cy="3600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Non-blocking I/O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블로킹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A와 B 두 개의 함수가 있다고 가정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제어권은 코드를 실행할 권한을 의미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1050" y="2843212"/>
            <a:ext cx="7581900" cy="362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Non-blocking I/O 기반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논블로킹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A와 B 두 개의 함수가 있다고 가정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제어권은 코드를 실행할 권한을 의미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2487" y="2790825"/>
            <a:ext cx="7439025" cy="358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Node.js로 서버를 만드는 이유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서버가 아닌 Node.js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데스크톱 개발 도구 일렉트론(Electron)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비주얼 스튜디오 코드(Visual Studio Code), 아톰(Atom), 슬랙(Slack)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모바일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개발 도구 리액트 네이티브(React Native)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페이스북, 인스타그램, 테슬라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프론트엔드 웹 개발 도구 리액트(React), 뷰(Vue.js)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ja-JP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2" name=""/>
          <p:cNvPicPr>
            <a:picLocks noChangeAspect="1"/>
          </p:cNvPicPr>
          <p:nvPr/>
        </p:nvPicPr>
        <p:blipFill rotWithShape="1">
          <a:blip r:embed="rId2"/>
          <a:srcRect t="49000"/>
          <a:stretch>
            <a:fillRect/>
          </a:stretch>
        </p:blipFill>
        <p:spPr>
          <a:xfrm>
            <a:off x="3702890" y="5040456"/>
            <a:ext cx="5155360" cy="1817543"/>
          </a:xfrm>
          <a:prstGeom prst="rect">
            <a:avLst/>
          </a:prstGeom>
        </p:spPr>
      </p:pic>
      <p:pic>
        <p:nvPicPr>
          <p:cNvPr id="41" name=""/>
          <p:cNvPicPr>
            <a:picLocks noChangeAspect="1"/>
          </p:cNvPicPr>
          <p:nvPr/>
        </p:nvPicPr>
        <p:blipFill rotWithShape="1">
          <a:blip r:embed="rId3"/>
          <a:srcRect b="50810"/>
          <a:stretch>
            <a:fillRect/>
          </a:stretch>
        </p:blipFill>
        <p:spPr>
          <a:xfrm>
            <a:off x="423333" y="3429000"/>
            <a:ext cx="5155360" cy="17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express 기반의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웹 서버 생성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04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package.json 파일 생성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터미널을 열고 명령어로 ‘npm init’ 입력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6250" y="2106083"/>
            <a:ext cx="8191500" cy="762000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7412" y="2899304"/>
            <a:ext cx="4829175" cy="3514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package.json 파일 생성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‘package.json’ 파일을 생성하기 위한 정보들을 단계별로 입력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package name : board, entry point : server.js, author : lch</a:t>
            </a: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76450" y="2483379"/>
            <a:ext cx="4991100" cy="3648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express 설치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명령어를 입력하여 express를 설치</a:t>
            </a:r>
            <a:endParaRPr lang="ko-KR" altLang="en-US"/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113491"/>
            <a:ext cx="8229600" cy="704850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38337" y="2845329"/>
            <a:ext cx="5267325" cy="3686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express를 사용한 서버 코드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작업하기 전에 작업할 폴더 오픈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메뉴에서 〔터미널〕 → 〔새 터미널〕을 선택</a:t>
            </a:r>
            <a:r>
              <a:rPr lang="ko-KR" altLang="en-US"/>
              <a:t>하고 해당 폴더명이 잘 표시되는지 확인</a:t>
            </a:r>
            <a:endParaRPr lang="ko-KR" altLang="en-US"/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1041" y="2465915"/>
            <a:ext cx="3952875" cy="2581275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11637" y="4293130"/>
            <a:ext cx="4657725" cy="231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express를 사용한 서버 코드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폴더 ‘Server’를 선택하고 &lt;새 파일&gt; 버튼을 클릭하여 ‘Server.js’라는 새 파일 추가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코드를 작성하여 express를 사용한 서버 코드 생성</a:t>
            </a:r>
            <a:endParaRPr lang="ko-KR" altLang="en-US"/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2912" y="2426758"/>
            <a:ext cx="8258174" cy="2343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express를 사용한 서버 코드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다음과 같이 명령어를 입력하여 서버 구동</a:t>
            </a:r>
            <a:endParaRPr lang="ko-KR" altLang="en-US"/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2" y="2163762"/>
            <a:ext cx="8220074" cy="3419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express 기반의 웹 서버 생성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express를 사용한 서버 코드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브라우저를 열고 ‘127.0.0.1:8080’으로 접속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또는 ‘localhost:8080’으로 접속</a:t>
            </a:r>
            <a:endParaRPr lang="ko-KR" altLang="en-US"/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66862" y="2694516"/>
            <a:ext cx="6010274" cy="259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기본적인 GET 요청 처리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05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브라우저의 주소창에 요청 ‘url’을 입력하는 것이 </a:t>
            </a:r>
            <a:r>
              <a:rPr lang="en-US" altLang="ko-KR"/>
              <a:t>‘GET</a:t>
            </a:r>
            <a:r>
              <a:rPr lang="ko-KR" altLang="en-US"/>
              <a:t> 요청</a:t>
            </a:r>
            <a:r>
              <a:rPr lang="en-US" altLang="ko-KR"/>
              <a:t>’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“XXX로 요청하면 XXX를 처리해 주세요.”라는 의미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포털사이트 같은 곳에서 웹서핑할 때 대부분 GET 요청을 통해 수행</a:t>
            </a: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길벗(gilbut.co.kr) 사이트</a:t>
            </a:r>
            <a:r>
              <a:rPr lang="ko-KR" altLang="en-US"/>
              <a:t>의</a:t>
            </a:r>
            <a:r>
              <a:rPr lang="ja-JP" altLang="en-US"/>
              <a:t> 홈 메뉴에서 〔도서〕 카테고리 </a:t>
            </a:r>
            <a:r>
              <a:rPr lang="ko-KR" altLang="en-US"/>
              <a:t>클릭 후 </a:t>
            </a:r>
            <a:r>
              <a:rPr lang="ja-JP" altLang="en-US"/>
              <a:t>url</a:t>
            </a:r>
            <a:r>
              <a:rPr lang="ko-KR" altLang="en-US"/>
              <a:t> 살펴보기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홈 메뉴에서 〔동영상 강좌〕를 클릭하고 다시 url을 살펴</a:t>
            </a:r>
            <a:r>
              <a:rPr lang="ko-KR" altLang="en-US"/>
              <a:t>보기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5911" y="2350062"/>
            <a:ext cx="5612342" cy="3512539"/>
          </a:xfrm>
          <a:prstGeom prst="rect">
            <a:avLst/>
          </a:prstGeom>
        </p:spPr>
      </p:pic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75023" y="3842644"/>
            <a:ext cx="5567892" cy="2876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서버의 처리 코드를 작성하여 ‘/book’으로 요청을 하면 도서 관련된 안내문을 표시하는 코드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0063" y="2298170"/>
            <a:ext cx="8143874" cy="3362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코드 작성이 끝났으면 단축키 </a:t>
            </a:r>
            <a:r>
              <a:rPr lang="en-US" altLang="ko-KR"/>
              <a:t>󰍭+󰍿</a:t>
            </a:r>
            <a:r>
              <a:rPr lang="ko-KR" altLang="en-US"/>
              <a:t>를 눌러 서버를 종료하고 다시 실행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다시 실행할 때 위쪽 방향키를 누르면 이전에 입력했던 명령어들이 나타나므로 터미널에 매번 node server.js를 작성할 필요는 없음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4812" y="2747433"/>
            <a:ext cx="8334374" cy="335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웹 브라우저를 열고 주소창에 ‘localhost:8080/book’ 입력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71600" y="2393420"/>
            <a:ext cx="6400800" cy="279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요청 경로가 ‘/book’인 경우를 처리 외에도, 요청 경로가 ‘/’인 경우 처리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38" name=""/>
          <p:cNvGrpSpPr/>
          <p:nvPr/>
        </p:nvGrpSpPr>
        <p:grpSpPr>
          <a:xfrm rot="0">
            <a:off x="481013" y="2252133"/>
            <a:ext cx="8181974" cy="3009899"/>
            <a:chOff x="481012" y="2252133"/>
            <a:chExt cx="8181974" cy="3009899"/>
          </a:xfrm>
        </p:grpSpPr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81012" y="2252133"/>
              <a:ext cx="8181974" cy="3009900"/>
            </a:xfrm>
            <a:prstGeom prst="rect">
              <a:avLst/>
            </a:prstGeom>
          </p:spPr>
        </p:pic>
        <p:sp>
          <p:nvSpPr>
            <p:cNvPr id="37" name=""/>
            <p:cNvSpPr/>
            <p:nvPr/>
          </p:nvSpPr>
          <p:spPr>
            <a:xfrm>
              <a:off x="6593417" y="2465916"/>
              <a:ext cx="476250" cy="433916"/>
            </a:xfrm>
            <a:prstGeom prst="rect">
              <a:avLst/>
            </a:prstGeom>
            <a:solidFill>
              <a:srgbClr val="fef8e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 lvl="0"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기본적인 GET 요청 처리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GET 요청 처리 루틴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종료했다가 재시작하고, 브라우저 주소창에 다음과 같이 요청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7675" y="2075921"/>
            <a:ext cx="8248650" cy="3933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서버에서 HTML 파일 전송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06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send 함수의 한계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문자열 내에서 html 문법이 적용되므로 개행 태그인 &lt;br&gt;를 사용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서버를 재시작 후 웹 브라우저로 홈 url 요청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39" name=""/>
          <p:cNvGrpSpPr/>
          <p:nvPr/>
        </p:nvGrpSpPr>
        <p:grpSpPr>
          <a:xfrm rot="0">
            <a:off x="945899" y="1921635"/>
            <a:ext cx="7252202" cy="1850562"/>
            <a:chOff x="428625" y="2064808"/>
            <a:chExt cx="8286750" cy="2114550"/>
          </a:xfrm>
        </p:grpSpPr>
        <p:pic>
          <p:nvPicPr>
            <p:cNvPr id="37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28625" y="2064808"/>
              <a:ext cx="8286750" cy="2114550"/>
            </a:xfrm>
            <a:prstGeom prst="rect">
              <a:avLst/>
            </a:prstGeom>
          </p:spPr>
        </p:pic>
        <p:sp>
          <p:nvSpPr>
            <p:cNvPr id="38" name=""/>
            <p:cNvSpPr/>
            <p:nvPr/>
          </p:nvSpPr>
          <p:spPr>
            <a:xfrm>
              <a:off x="6594475" y="2264833"/>
              <a:ext cx="476250" cy="433916"/>
            </a:xfrm>
            <a:prstGeom prst="rect">
              <a:avLst/>
            </a:prstGeom>
            <a:solidFill>
              <a:srgbClr val="fef8e2">
                <a:alpha val="100000"/>
              </a:srgbClr>
            </a:solidFill>
            <a:ln w="25400" cap="flat" cmpd="sng" algn="ctr">
              <a:noFill/>
              <a:prstDash val="solid"/>
            </a:ln>
          </p:spPr>
          <p:txBody>
            <a:bodyPr/>
            <a:p>
              <a:pPr marL="0" lvl="0" indent="0" algn="l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pic>
        <p:nvPicPr>
          <p:cNvPr id="4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1974" y="4473574"/>
            <a:ext cx="5660051" cy="2225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send 함수의 한계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html 형식을 갖추어 태그를 사용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재시작 후 웹 브라우저로 홈 url 요청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44" name=""/>
          <p:cNvGrpSpPr/>
          <p:nvPr/>
        </p:nvGrpSpPr>
        <p:grpSpPr>
          <a:xfrm rot="0">
            <a:off x="592665" y="2527416"/>
            <a:ext cx="4540250" cy="3073167"/>
            <a:chOff x="476250" y="1276350"/>
            <a:chExt cx="6360583" cy="4305300"/>
          </a:xfrm>
        </p:grpSpPr>
        <p:pic>
          <p:nvPicPr>
            <p:cNvPr id="41" name=""/>
            <p:cNvPicPr>
              <a:picLocks noChangeAspect="1"/>
            </p:cNvPicPr>
            <p:nvPr/>
          </p:nvPicPr>
          <p:blipFill rotWithShape="1">
            <a:blip r:embed="rId2"/>
            <a:srcRect r="22350"/>
            <a:stretch>
              <a:fillRect/>
            </a:stretch>
          </p:blipFill>
          <p:spPr>
            <a:xfrm>
              <a:off x="476250" y="1276350"/>
              <a:ext cx="6360583" cy="4305300"/>
            </a:xfrm>
            <a:prstGeom prst="rect">
              <a:avLst/>
            </a:prstGeom>
          </p:spPr>
        </p:pic>
        <p:sp>
          <p:nvSpPr>
            <p:cNvPr id="43" name=""/>
            <p:cNvSpPr/>
            <p:nvPr/>
          </p:nvSpPr>
          <p:spPr>
            <a:xfrm>
              <a:off x="6468982" y="1546356"/>
              <a:ext cx="300376" cy="379744"/>
            </a:xfrm>
            <a:prstGeom prst="rect">
              <a:avLst/>
            </a:prstGeom>
            <a:solidFill>
              <a:srgbClr val="fef8e2">
                <a:alpha val="100000"/>
              </a:srgbClr>
            </a:solidFill>
            <a:ln w="25400" cap="flat" cmpd="sng" algn="ctr">
              <a:noFill/>
              <a:prstDash val="solid"/>
            </a:ln>
          </p:spPr>
          <p:txBody>
            <a:bodyPr/>
            <a:p>
              <a:pPr marL="0" lvl="0" indent="0" algn="l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pic>
        <p:nvPicPr>
          <p:cNvPr id="4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79497" y="4770319"/>
            <a:ext cx="4691340" cy="1910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파일 전송 sendFile 함수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함수의 전달인자로 경로 및 파일 이름을 전달하면 해당 파일의 내용이 요청한 웹 브라우저에 전달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기존 코드 수정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7675" y="2264833"/>
            <a:ext cx="8248650" cy="762000"/>
          </a:xfrm>
          <a:prstGeom prst="rect">
            <a:avLst/>
          </a:prstGeom>
        </p:spPr>
      </p:pic>
      <p:grpSp>
        <p:nvGrpSpPr>
          <p:cNvPr id="48" name=""/>
          <p:cNvGrpSpPr/>
          <p:nvPr/>
        </p:nvGrpSpPr>
        <p:grpSpPr>
          <a:xfrm rot="0">
            <a:off x="471487" y="3753908"/>
            <a:ext cx="8201026" cy="2038349"/>
            <a:chOff x="471487" y="3753908"/>
            <a:chExt cx="8201026" cy="2038349"/>
          </a:xfrm>
        </p:grpSpPr>
        <p:pic>
          <p:nvPicPr>
            <p:cNvPr id="4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71487" y="3753908"/>
              <a:ext cx="8201025" cy="2038350"/>
            </a:xfrm>
            <a:prstGeom prst="rect">
              <a:avLst/>
            </a:prstGeom>
          </p:spPr>
        </p:pic>
        <p:sp>
          <p:nvSpPr>
            <p:cNvPr id="47" name=""/>
            <p:cNvSpPr/>
            <p:nvPr/>
          </p:nvSpPr>
          <p:spPr>
            <a:xfrm>
              <a:off x="6564232" y="3969939"/>
              <a:ext cx="416793" cy="379744"/>
            </a:xfrm>
            <a:prstGeom prst="rect">
              <a:avLst/>
            </a:prstGeom>
            <a:solidFill>
              <a:srgbClr val="fef8e2">
                <a:alpha val="100000"/>
              </a:srgbClr>
            </a:solidFill>
            <a:ln w="25400" cap="flat" cmpd="sng" algn="ctr">
              <a:noFill/>
              <a:prstDash val="solid"/>
            </a:ln>
          </p:spPr>
          <p:txBody>
            <a:bodyPr/>
            <a:p>
              <a:pPr marL="0" lvl="0" indent="0" algn="l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파일 전송 sendFile 함수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현재 폴더 위치에서 ‘새 파일’ 아이콘을 클릭하여 ‘index.html’ 파일을 생성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Index.html 편집기 1번째 라인에 포커스를 입력하고 느낌표(!)를 입력 후 </a:t>
            </a:r>
            <a:r>
              <a:rPr lang="en-US" altLang="ko-KR"/>
              <a:t>󰎠</a:t>
            </a:r>
            <a:r>
              <a:rPr lang="ko-KR" altLang="en-US"/>
              <a:t> 누르기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4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3621" y="2357079"/>
            <a:ext cx="3887258" cy="2998974"/>
          </a:xfrm>
          <a:prstGeom prst="rect">
            <a:avLst/>
          </a:prstGeom>
        </p:spPr>
      </p:pic>
      <p:pic>
        <p:nvPicPr>
          <p:cNvPr id="50" name=""/>
          <p:cNvPicPr>
            <a:picLocks noChangeAspect="1"/>
          </p:cNvPicPr>
          <p:nvPr/>
        </p:nvPicPr>
        <p:blipFill rotWithShape="1">
          <a:blip r:embed="rId3"/>
          <a:srcRect l="450" t="700"/>
          <a:stretch>
            <a:fillRect/>
          </a:stretch>
        </p:blipFill>
        <p:spPr>
          <a:xfrm>
            <a:off x="1986513" y="3715726"/>
            <a:ext cx="7009321" cy="2994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파일 전송 sendFile 함수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원하는 내용의 코드를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종료했다 재시작하고, 브라우저 주소창 요청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6524" y="2391848"/>
            <a:ext cx="6140451" cy="3492471"/>
          </a:xfrm>
          <a:prstGeom prst="rect">
            <a:avLst/>
          </a:prstGeom>
        </p:spPr>
      </p:pic>
      <p:pic>
        <p:nvPicPr>
          <p:cNvPr id="5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54088" y="4148038"/>
            <a:ext cx="5031161" cy="254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부트스트랩 적용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부트스트랩 페이지(</a:t>
            </a:r>
            <a:r>
              <a:rPr lang="ja-JP" altLang="en-US">
                <a:hlinkClick r:id="rId2"/>
              </a:rPr>
              <a:t>https://getbootstrap.kr/</a:t>
            </a:r>
            <a:r>
              <a:rPr lang="ja-JP" altLang="en-US"/>
              <a:t>)로 이동</a:t>
            </a:r>
            <a:endParaRPr lang="ja-JP" altLang="en-US"/>
          </a:p>
          <a:p>
            <a:pPr lvl="1">
              <a:defRPr/>
            </a:pPr>
            <a:r>
              <a:rPr lang="ja-JP" altLang="en-US"/>
              <a:t>왼쪽 메뉴에서 〔시작하기〕 → 〔시작하기〕를 클릭</a:t>
            </a:r>
            <a:endParaRPr lang="ja-JP" altLang="en-US"/>
          </a:p>
          <a:p>
            <a:pPr lvl="1">
              <a:defRPr/>
            </a:pPr>
            <a:r>
              <a:rPr lang="ja-JP" altLang="en-US"/>
              <a:t>본문의 2번 소스 코드가 부트스트랩의 CSS와 JS를 CDN 방식으로</a:t>
            </a:r>
            <a:r>
              <a:rPr lang="ko-KR" altLang="en-US"/>
              <a:t> </a:t>
            </a:r>
            <a:r>
              <a:rPr lang="ja-JP" altLang="en-US"/>
              <a:t>연결하여 사용할 수 있는</a:t>
            </a:r>
            <a:r>
              <a:rPr lang="ko-KR" altLang="en-US"/>
              <a:t> </a:t>
            </a:r>
            <a:r>
              <a:rPr lang="ja-JP" altLang="en-US"/>
              <a:t>기본 코드 복사</a:t>
            </a:r>
            <a:endParaRPr lang="ja-JP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04975" y="3022599"/>
            <a:ext cx="5734050" cy="354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부트스트랩 적용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복사한 코드를 ‘index.html’ 파일에 그대로 붙여넣기하고 코드 수정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재시작하고 브라우저 주소창에 ‘http://localhost:8080/’를 입력하여 접속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314" y="2368736"/>
            <a:ext cx="4939538" cy="3976844"/>
          </a:xfrm>
          <a:prstGeom prst="rect">
            <a:avLst/>
          </a:prstGeom>
        </p:spPr>
      </p:pic>
      <p:pic>
        <p:nvPicPr>
          <p:cNvPr id="5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69416" y="5619658"/>
            <a:ext cx="3875616" cy="1108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부트스트랩 적용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내비게이션 바를 추가하기 위해 메뉴의 ‘내비게이션 바’ 클릭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95450" y="2262187"/>
            <a:ext cx="5753100" cy="385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부트스트랩 적용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복사한 코드를 ‘index.html’ 파일의 &lt;body&gt; 태그 다음에 붙여넣기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7995" y="2103055"/>
            <a:ext cx="4235008" cy="3880614"/>
          </a:xfrm>
          <a:prstGeom prst="rect">
            <a:avLst/>
          </a:prstGeom>
        </p:spPr>
      </p:pic>
      <p:pic>
        <p:nvPicPr>
          <p:cNvPr id="5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2095499"/>
            <a:ext cx="4270447" cy="4229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서버에서 HTML 파일 전송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77188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부트스트랩 적용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서버를 재시작하고 브라우저 주소창에 ‘http://localhost:8080/’를 입력하여 접속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4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marL="447675" lvl="2" indent="0"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5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09737" y="2238375"/>
            <a:ext cx="5724525" cy="175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2959531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 sz="6900"/>
              <a:t>Q&amp;A</a:t>
            </a:r>
            <a:endParaRPr lang="en-US" altLang="ko-KR" sz="6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1350</ep:Words>
  <ep:PresentationFormat>화면 슬라이드 쇼(4:3)</ep:PresentationFormat>
  <ep:Paragraphs>244</ep:Paragraphs>
  <ep:Slides>59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ep:HeadingPairs>
  <ep:TitlesOfParts>
    <vt:vector size="60" baseType="lpstr">
      <vt:lpstr>Office 테마</vt:lpstr>
      <vt:lpstr>슬라이드 1</vt:lpstr>
      <vt:lpstr>슬라이드 2</vt:lpstr>
      <vt:lpstr>슬라이드 3</vt:lpstr>
      <vt:lpstr>슬라이드 4</vt:lpstr>
      <vt:lpstr>1. Node.js</vt:lpstr>
      <vt:lpstr>1. Node.js</vt:lpstr>
      <vt:lpstr>1. Node.js</vt:lpstr>
      <vt:lpstr>슬라이드 8</vt:lpstr>
      <vt:lpstr>2. 서버</vt:lpstr>
      <vt:lpstr>2. 서버</vt:lpstr>
      <vt:lpstr>2. 서버</vt:lpstr>
      <vt:lpstr>2. 서버</vt:lpstr>
      <vt:lpstr>2. 서버</vt:lpstr>
      <vt:lpstr>2. 서버</vt:lpstr>
      <vt:lpstr>2. 서버</vt:lpstr>
      <vt:lpstr>2. 서버</vt:lpstr>
      <vt:lpstr>슬라이드 17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3. Node.js로 서버를 만드는 이유</vt:lpstr>
      <vt:lpstr>슬라이드 32</vt:lpstr>
      <vt:lpstr>4. express 기반의 웹 서버 생성</vt:lpstr>
      <vt:lpstr>4. express 기반의 웹 서버 생성</vt:lpstr>
      <vt:lpstr>4. express 기반의 웹 서버 생성</vt:lpstr>
      <vt:lpstr>4. express 기반의 웹 서버 생성</vt:lpstr>
      <vt:lpstr>4. express 기반의 웹 서버 생성</vt:lpstr>
      <vt:lpstr>4. express 기반의 웹 서버 생성</vt:lpstr>
      <vt:lpstr>4. express 기반의 웹 서버 생성</vt:lpstr>
      <vt:lpstr>슬라이드 40</vt:lpstr>
      <vt:lpstr>5. 기본적인 GET 요청 처리</vt:lpstr>
      <vt:lpstr>5. 기본적인 GET 요청 처리</vt:lpstr>
      <vt:lpstr>5. 기본적인 GET 요청 처리</vt:lpstr>
      <vt:lpstr>5. 기본적인 GET 요청 처리</vt:lpstr>
      <vt:lpstr>5. 기본적인 GET 요청 처리</vt:lpstr>
      <vt:lpstr>5. 기본적인 GET 요청 처리</vt:lpstr>
      <vt:lpstr>5. 기본적인 GET 요청 처리</vt:lpstr>
      <vt:lpstr>슬라이드 48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6. 서버에서 HTML 파일 전송</vt:lpstr>
      <vt:lpstr>슬라이드 59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2007-11-27T23:54:21.000</dcterms:created>
  <dc:creator>sh</dc:creator>
  <cp:lastModifiedBy>user</cp:lastModifiedBy>
  <dcterms:modified xsi:type="dcterms:W3CDTF">2023-07-06T07:10:27.133</dcterms:modified>
  <cp:revision>1182</cp:revision>
  <dc:title>PowerPoint Template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