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SpecialPlsOnTitleSld="0">
  <p:sldMasterIdLst>
    <p:sldMasterId id="2147484267" r:id="rId1"/>
  </p:sldMasterIdLst>
  <p:notesMasterIdLst>
    <p:notesMasterId r:id="rId2"/>
  </p:notesMasterIdLst>
  <p:handoutMasterIdLst>
    <p:handoutMasterId r:id="rId3"/>
  </p:handoutMasterIdLst>
  <p:sldIdLst>
    <p:sldId id="707" r:id="rId4"/>
    <p:sldId id="619" r:id="rId5"/>
    <p:sldId id="630" r:id="rId6"/>
    <p:sldId id="714" r:id="rId7"/>
    <p:sldId id="605" r:id="rId8"/>
    <p:sldId id="1040" r:id="rId9"/>
    <p:sldId id="1041" r:id="rId10"/>
    <p:sldId id="1042" r:id="rId11"/>
    <p:sldId id="1043" r:id="rId12"/>
    <p:sldId id="1044" r:id="rId13"/>
    <p:sldId id="1045" r:id="rId14"/>
    <p:sldId id="848" r:id="rId15"/>
    <p:sldId id="1003" r:id="rId16"/>
    <p:sldId id="1046" r:id="rId17"/>
    <p:sldId id="1047" r:id="rId18"/>
    <p:sldId id="1048" r:id="rId19"/>
    <p:sldId id="1049" r:id="rId20"/>
    <p:sldId id="1050" r:id="rId21"/>
    <p:sldId id="1051" r:id="rId22"/>
    <p:sldId id="1052" r:id="rId23"/>
    <p:sldId id="1053" r:id="rId24"/>
    <p:sldId id="1054" r:id="rId25"/>
    <p:sldId id="1055" r:id="rId26"/>
    <p:sldId id="766" r:id="rId27"/>
    <p:sldId id="1008" r:id="rId28"/>
    <p:sldId id="1056" r:id="rId29"/>
    <p:sldId id="1057" r:id="rId30"/>
    <p:sldId id="1058" r:id="rId31"/>
    <p:sldId id="1059" r:id="rId32"/>
    <p:sldId id="1060" r:id="rId33"/>
    <p:sldId id="1061" r:id="rId34"/>
    <p:sldId id="1062" r:id="rId35"/>
    <p:sldId id="1063" r:id="rId36"/>
    <p:sldId id="1064" r:id="rId37"/>
    <p:sldId id="1065" r:id="rId38"/>
    <p:sldId id="1066" r:id="rId39"/>
    <p:sldId id="1067" r:id="rId40"/>
    <p:sldId id="1068" r:id="rId41"/>
    <p:sldId id="1069" r:id="rId42"/>
    <p:sldId id="1070" r:id="rId43"/>
    <p:sldId id="1071" r:id="rId44"/>
    <p:sldId id="1072" r:id="rId45"/>
    <p:sldId id="1073" r:id="rId46"/>
    <p:sldId id="885" r:id="rId47"/>
    <p:sldId id="886" r:id="rId48"/>
    <p:sldId id="1074" r:id="rId49"/>
    <p:sldId id="1075" r:id="rId50"/>
    <p:sldId id="1076" r:id="rId51"/>
    <p:sldId id="1077" r:id="rId52"/>
    <p:sldId id="1078" r:id="rId53"/>
    <p:sldId id="1079" r:id="rId54"/>
    <p:sldId id="1080" r:id="rId55"/>
    <p:sldId id="1081" r:id="rId56"/>
    <p:sldId id="1082" r:id="rId57"/>
    <p:sldId id="1083" r:id="rId58"/>
    <p:sldId id="1084" r:id="rId59"/>
    <p:sldId id="1085" r:id="rId60"/>
    <p:sldId id="1086" r:id="rId61"/>
    <p:sldId id="1087" r:id="rId62"/>
    <p:sldId id="1088" r:id="rId63"/>
    <p:sldId id="875" r:id="rId6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/>
        <a:ea typeface="+mn-ea"/>
        <a:cs typeface="Arial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/>
        <a:ea typeface="+mn-ea"/>
        <a:cs typeface="Arial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/>
        <a:ea typeface="+mn-ea"/>
        <a:cs typeface="Arial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/>
        <a:ea typeface="+mn-ea"/>
        <a:cs typeface="Arial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/>
        <a:ea typeface="+mn-ea"/>
        <a:cs typeface="Arial"/>
      </a:defRPr>
    </a:lvl5pPr>
    <a:lvl6pPr marL="2286000" algn="l" defTabSz="914400" rtl="0" eaLnBrk="1" latinLnBrk="1" hangingPunct="1">
      <a:defRPr sz="2000" kern="1200">
        <a:solidFill>
          <a:schemeClr val="tx1"/>
        </a:solidFill>
        <a:latin typeface="Arial"/>
        <a:ea typeface="+mn-ea"/>
        <a:cs typeface="Arial"/>
      </a:defRPr>
    </a:lvl6pPr>
    <a:lvl7pPr marL="2743200" algn="l" defTabSz="914400" rtl="0" eaLnBrk="1" latinLnBrk="1" hangingPunct="1">
      <a:defRPr sz="2000" kern="1200">
        <a:solidFill>
          <a:schemeClr val="tx1"/>
        </a:solidFill>
        <a:latin typeface="Arial"/>
        <a:ea typeface="+mn-ea"/>
        <a:cs typeface="Arial"/>
      </a:defRPr>
    </a:lvl7pPr>
    <a:lvl8pPr marL="3200400" algn="l" defTabSz="914400" rtl="0" eaLnBrk="1" latinLnBrk="1" hangingPunct="1">
      <a:defRPr sz="2000" kern="1200">
        <a:solidFill>
          <a:schemeClr val="tx1"/>
        </a:solidFill>
        <a:latin typeface="Arial"/>
        <a:ea typeface="+mn-ea"/>
        <a:cs typeface="Arial"/>
      </a:defRPr>
    </a:lvl8pPr>
    <a:lvl9pPr marL="3657600" algn="l" defTabSz="914400" rtl="0" eaLnBrk="1" latinLnBrk="1" hangingPunct="1">
      <a:defRPr sz="2000" kern="1200">
        <a:solidFill>
          <a:schemeClr val="tx1"/>
        </a:solidFill>
        <a:latin typeface="Arial"/>
        <a:ea typeface="+mn-ea"/>
        <a:cs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2895" autoAdjust="0"/>
    <p:restoredTop sz="94258" autoAdjust="0"/>
  </p:normalViewPr>
  <p:slideViewPr>
    <p:cSldViewPr snapToGrid="0">
      <p:cViewPr>
        <p:scale>
          <a:sx n="100" d="100"/>
          <a:sy n="100" d="100"/>
        </p:scale>
        <p:origin x="-1920" y="-84"/>
      </p:cViewPr>
      <p:guideLst>
        <p:guide orient="horz" pos="2157"/>
        <p:guide pos="2877"/>
      </p:guideLst>
    </p:cSldViewPr>
  </p:slideViewPr>
  <p:notesTextViewPr>
    <p:cViewPr>
      <p:scale>
        <a:sx n="40" d="100"/>
        <a:sy n="40" d="100"/>
      </p:scale>
      <p:origin x="0" y="0"/>
    </p:cViewPr>
  </p:notesTextViewPr>
  <p:sorterViewPr>
    <p:cViewPr>
      <p:scale>
        <a:sx n="66" d="100"/>
        <a:sy n="66" d="100"/>
      </p:scale>
      <p:origin x="0" y="882"/>
    </p:cViewPr>
  </p:sorterViewPr>
  <p:notesViewPr>
    <p:cSldViewPr snapToGrid="0">
      <p:cViewPr varScale="1">
        <p:scale>
          <a:sx n="88" d="100"/>
          <a:sy n="88" d="100"/>
        </p:scale>
        <p:origin x="-3870" y="-96"/>
      </p:cViewPr>
      <p:guideLst>
        <p:guide orient="horz" pos="2880"/>
        <p:guide pos="2149"/>
      </p:guideLst>
    </p:cSldViewPr>
  </p:notes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7.xml"  /><Relationship Id="rId11" Type="http://schemas.openxmlformats.org/officeDocument/2006/relationships/slide" Target="slides/slide8.xml"  /><Relationship Id="rId12" Type="http://schemas.openxmlformats.org/officeDocument/2006/relationships/slide" Target="slides/slide9.xml"  /><Relationship Id="rId13" Type="http://schemas.openxmlformats.org/officeDocument/2006/relationships/slide" Target="slides/slide10.xml"  /><Relationship Id="rId14" Type="http://schemas.openxmlformats.org/officeDocument/2006/relationships/slide" Target="slides/slide11.xml"  /><Relationship Id="rId15" Type="http://schemas.openxmlformats.org/officeDocument/2006/relationships/slide" Target="slides/slide12.xml"  /><Relationship Id="rId16" Type="http://schemas.openxmlformats.org/officeDocument/2006/relationships/slide" Target="slides/slide13.xml"  /><Relationship Id="rId17" Type="http://schemas.openxmlformats.org/officeDocument/2006/relationships/slide" Target="slides/slide14.xml"  /><Relationship Id="rId18" Type="http://schemas.openxmlformats.org/officeDocument/2006/relationships/slide" Target="slides/slide15.xml"  /><Relationship Id="rId19" Type="http://schemas.openxmlformats.org/officeDocument/2006/relationships/slide" Target="slides/slide16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7.xml"  /><Relationship Id="rId21" Type="http://schemas.openxmlformats.org/officeDocument/2006/relationships/slide" Target="slides/slide18.xml"  /><Relationship Id="rId22" Type="http://schemas.openxmlformats.org/officeDocument/2006/relationships/slide" Target="slides/slide19.xml"  /><Relationship Id="rId23" Type="http://schemas.openxmlformats.org/officeDocument/2006/relationships/slide" Target="slides/slide20.xml"  /><Relationship Id="rId24" Type="http://schemas.openxmlformats.org/officeDocument/2006/relationships/slide" Target="slides/slide21.xml"  /><Relationship Id="rId25" Type="http://schemas.openxmlformats.org/officeDocument/2006/relationships/slide" Target="slides/slide22.xml"  /><Relationship Id="rId26" Type="http://schemas.openxmlformats.org/officeDocument/2006/relationships/slide" Target="slides/slide23.xml"  /><Relationship Id="rId27" Type="http://schemas.openxmlformats.org/officeDocument/2006/relationships/slide" Target="slides/slide24.xml"  /><Relationship Id="rId28" Type="http://schemas.openxmlformats.org/officeDocument/2006/relationships/slide" Target="slides/slide25.xml"  /><Relationship Id="rId29" Type="http://schemas.openxmlformats.org/officeDocument/2006/relationships/slide" Target="slides/slide26.xml"  /><Relationship Id="rId3" Type="http://schemas.openxmlformats.org/officeDocument/2006/relationships/handoutMaster" Target="handoutMasters/handoutMaster1.xml"  /><Relationship Id="rId30" Type="http://schemas.openxmlformats.org/officeDocument/2006/relationships/slide" Target="slides/slide27.xml"  /><Relationship Id="rId31" Type="http://schemas.openxmlformats.org/officeDocument/2006/relationships/slide" Target="slides/slide28.xml"  /><Relationship Id="rId32" Type="http://schemas.openxmlformats.org/officeDocument/2006/relationships/slide" Target="slides/slide29.xml"  /><Relationship Id="rId33" Type="http://schemas.openxmlformats.org/officeDocument/2006/relationships/slide" Target="slides/slide30.xml"  /><Relationship Id="rId34" Type="http://schemas.openxmlformats.org/officeDocument/2006/relationships/slide" Target="slides/slide31.xml"  /><Relationship Id="rId35" Type="http://schemas.openxmlformats.org/officeDocument/2006/relationships/slide" Target="slides/slide32.xml"  /><Relationship Id="rId36" Type="http://schemas.openxmlformats.org/officeDocument/2006/relationships/slide" Target="slides/slide33.xml"  /><Relationship Id="rId37" Type="http://schemas.openxmlformats.org/officeDocument/2006/relationships/slide" Target="slides/slide34.xml"  /><Relationship Id="rId38" Type="http://schemas.openxmlformats.org/officeDocument/2006/relationships/slide" Target="slides/slide35.xml"  /><Relationship Id="rId39" Type="http://schemas.openxmlformats.org/officeDocument/2006/relationships/slide" Target="slides/slide36.xml"  /><Relationship Id="rId4" Type="http://schemas.openxmlformats.org/officeDocument/2006/relationships/slide" Target="slides/slide1.xml"  /><Relationship Id="rId40" Type="http://schemas.openxmlformats.org/officeDocument/2006/relationships/slide" Target="slides/slide37.xml"  /><Relationship Id="rId41" Type="http://schemas.openxmlformats.org/officeDocument/2006/relationships/slide" Target="slides/slide38.xml"  /><Relationship Id="rId42" Type="http://schemas.openxmlformats.org/officeDocument/2006/relationships/slide" Target="slides/slide39.xml"  /><Relationship Id="rId43" Type="http://schemas.openxmlformats.org/officeDocument/2006/relationships/slide" Target="slides/slide40.xml"  /><Relationship Id="rId44" Type="http://schemas.openxmlformats.org/officeDocument/2006/relationships/slide" Target="slides/slide41.xml"  /><Relationship Id="rId45" Type="http://schemas.openxmlformats.org/officeDocument/2006/relationships/slide" Target="slides/slide42.xml"  /><Relationship Id="rId46" Type="http://schemas.openxmlformats.org/officeDocument/2006/relationships/slide" Target="slides/slide43.xml"  /><Relationship Id="rId47" Type="http://schemas.openxmlformats.org/officeDocument/2006/relationships/slide" Target="slides/slide44.xml"  /><Relationship Id="rId48" Type="http://schemas.openxmlformats.org/officeDocument/2006/relationships/slide" Target="slides/slide45.xml"  /><Relationship Id="rId49" Type="http://schemas.openxmlformats.org/officeDocument/2006/relationships/slide" Target="slides/slide46.xml"  /><Relationship Id="rId5" Type="http://schemas.openxmlformats.org/officeDocument/2006/relationships/slide" Target="slides/slide2.xml"  /><Relationship Id="rId50" Type="http://schemas.openxmlformats.org/officeDocument/2006/relationships/slide" Target="slides/slide47.xml"  /><Relationship Id="rId51" Type="http://schemas.openxmlformats.org/officeDocument/2006/relationships/slide" Target="slides/slide48.xml"  /><Relationship Id="rId52" Type="http://schemas.openxmlformats.org/officeDocument/2006/relationships/slide" Target="slides/slide49.xml"  /><Relationship Id="rId53" Type="http://schemas.openxmlformats.org/officeDocument/2006/relationships/slide" Target="slides/slide50.xml"  /><Relationship Id="rId54" Type="http://schemas.openxmlformats.org/officeDocument/2006/relationships/slide" Target="slides/slide51.xml"  /><Relationship Id="rId55" Type="http://schemas.openxmlformats.org/officeDocument/2006/relationships/slide" Target="slides/slide52.xml"  /><Relationship Id="rId56" Type="http://schemas.openxmlformats.org/officeDocument/2006/relationships/slide" Target="slides/slide53.xml"  /><Relationship Id="rId57" Type="http://schemas.openxmlformats.org/officeDocument/2006/relationships/slide" Target="slides/slide54.xml"  /><Relationship Id="rId58" Type="http://schemas.openxmlformats.org/officeDocument/2006/relationships/slide" Target="slides/slide55.xml"  /><Relationship Id="rId59" Type="http://schemas.openxmlformats.org/officeDocument/2006/relationships/slide" Target="slides/slide56.xml"  /><Relationship Id="rId6" Type="http://schemas.openxmlformats.org/officeDocument/2006/relationships/slide" Target="slides/slide3.xml"  /><Relationship Id="rId60" Type="http://schemas.openxmlformats.org/officeDocument/2006/relationships/slide" Target="slides/slide57.xml"  /><Relationship Id="rId61" Type="http://schemas.openxmlformats.org/officeDocument/2006/relationships/slide" Target="slides/slide58.xml"  /><Relationship Id="rId62" Type="http://schemas.openxmlformats.org/officeDocument/2006/relationships/slide" Target="slides/slide59.xml"  /><Relationship Id="rId63" Type="http://schemas.openxmlformats.org/officeDocument/2006/relationships/slide" Target="slides/slide60.xml"  /><Relationship Id="rId64" Type="http://schemas.openxmlformats.org/officeDocument/2006/relationships/slide" Target="slides/slide61.xml"  /><Relationship Id="rId65" Type="http://schemas.openxmlformats.org/officeDocument/2006/relationships/presProps" Target="presProps.xml"  /><Relationship Id="rId66" Type="http://schemas.openxmlformats.org/officeDocument/2006/relationships/viewProps" Target="viewProps.xml"  /><Relationship Id="rId67" Type="http://schemas.openxmlformats.org/officeDocument/2006/relationships/theme" Target="theme/theme1.xml"  /><Relationship Id="rId68" Type="http://schemas.openxmlformats.org/officeDocument/2006/relationships/tableStyles" Target="tableStyles.xml"  /><Relationship Id="rId7" Type="http://schemas.openxmlformats.org/officeDocument/2006/relationships/slide" Target="slides/slide4.xml"  /><Relationship Id="rId8" Type="http://schemas.openxmlformats.org/officeDocument/2006/relationships/slide" Target="slides/slide5.xml"  /><Relationship Id="rId9" Type="http://schemas.openxmlformats.org/officeDocument/2006/relationships/slide" Target="slides/slide6.xml"  /></Relationships>
</file>

<file path=ppt/handoutMasters/_rels/handout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3.xml"  /></Relationships>
</file>

<file path=ppt/handoutMasters/handoutMaster1.xml><?xml version="1.0" encoding="utf-8"?>
<p:handout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>
              <a:defRPr sz="1200">
                <a:ea typeface="굴림"/>
                <a:cs typeface="+mn-cs"/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 algn="r">
              <a:defRPr sz="1200">
                <a:ea typeface="굴림"/>
                <a:cs typeface="+mn-cs"/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1924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>
              <a:defRPr sz="1200">
                <a:ea typeface="굴림"/>
                <a:cs typeface="+mn-cs"/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1925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sz="1200">
                <a:ea typeface="굴림"/>
                <a:cs typeface="+mn-cs"/>
              </a:defRPr>
            </a:lvl1pPr>
          </a:lstStyle>
          <a:p>
            <a:pPr lvl="0">
              <a:defRPr/>
            </a:pPr>
            <a:fld id="{44B68EE0-4410-487B-8EF2-AB4C8DC9B547}" type="slidenum">
              <a:rPr lang="en-US" altLang="ko-KR"/>
              <a:pPr lvl="0"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>
              <a:defRPr sz="1200">
                <a:ea typeface="굴림"/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 algn="r">
              <a:defRPr sz="1200">
                <a:ea typeface="굴림"/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962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  <a:effectLst/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de-DE"/>
              <a:t>Textmasterformate durch Klicken bearbeiten</a:t>
            </a:r>
            <a:endParaRPr lang="de-DE"/>
          </a:p>
          <a:p>
            <a:pPr lvl="1">
              <a:defRPr/>
            </a:pPr>
            <a:r>
              <a:rPr lang="de-DE"/>
              <a:t>Zweite Ebene</a:t>
            </a:r>
            <a:endParaRPr lang="de-DE"/>
          </a:p>
          <a:p>
            <a:pPr lvl="2">
              <a:defRPr/>
            </a:pPr>
            <a:r>
              <a:rPr lang="de-DE"/>
              <a:t>Dritte Ebene</a:t>
            </a:r>
            <a:endParaRPr lang="de-DE"/>
          </a:p>
          <a:p>
            <a:pPr lvl="3">
              <a:defRPr/>
            </a:pPr>
            <a:r>
              <a:rPr lang="de-DE"/>
              <a:t>Vierte Ebene</a:t>
            </a:r>
            <a:endParaRPr lang="de-DE"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>
              <a:defRPr sz="1200">
                <a:ea typeface="굴림"/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sz="1200">
                <a:ea typeface="굴림"/>
              </a:defRPr>
            </a:lvl1pPr>
          </a:lstStyle>
          <a:p>
            <a:pPr lvl="0">
              <a:defRPr/>
            </a:pPr>
            <a:fld id="{81967304-A513-47CF-AA1B-1F2A36BB6376}" type="slidenum">
              <a:rPr lang="de-DE" altLang="ko-KR"/>
              <a:pPr lvl="0">
                <a:defRPr/>
              </a:pPr>
              <a:t>‹#›</a:t>
            </a:fld>
            <a:endParaRPr lang="de-DE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967304-A513-47CF-AA1B-1F2A36BB6376}" type="slidenum">
              <a:rPr lang="en-US" altLang="ko-KR"/>
              <a:pPr lvl="0">
                <a:defRPr/>
              </a:pPr>
              <a:t>2</a:t>
            </a:fld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3.jpeg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4.png"  /><Relationship Id="rId3" Type="http://schemas.openxmlformats.org/officeDocument/2006/relationships/image" Target="../media/image4.png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2_제목 슬라이드1" preserve="1" userDrawn="1">
  <p:cSld name="2_제목 슬라이드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6"/>
          <p:cNvSpPr/>
          <p:nvPr userDrawn="1"/>
        </p:nvSpPr>
        <p:spPr>
          <a:xfrm>
            <a:off x="0" y="5373216"/>
            <a:ext cx="9144000" cy="14847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pic>
        <p:nvPicPr>
          <p:cNvPr id="1029" name=""/>
          <p:cNvPicPr>
            <a:picLocks noChangeAspect="1"/>
          </p:cNvPicPr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6998660" y="234824"/>
            <a:ext cx="1795320" cy="649108"/>
          </a:xfrm>
          <a:prstGeom prst="rect">
            <a:avLst/>
          </a:prstGeom>
        </p:spPr>
      </p:pic>
      <p:sp>
        <p:nvSpPr>
          <p:cNvPr id="1030" name=""/>
          <p:cNvSpPr txBox="1"/>
          <p:nvPr userDrawn="1"/>
        </p:nvSpPr>
        <p:spPr>
          <a:xfrm>
            <a:off x="2286000" y="5631831"/>
            <a:ext cx="4572000" cy="914400"/>
          </a:xfrm>
          <a:prstGeom prst="rect">
            <a:avLst/>
          </a:prstGeom>
        </p:spPr>
        <p:txBody>
          <a:bodyPr vert="horz" wrap="none" lIns="91440" tIns="45720" rIns="91440" bIns="45720" anchor="ctr">
            <a:normAutofit/>
          </a:bodyPr>
          <a:p>
            <a:pPr marL="0" lvl="0" indent="0" algn="ctr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rPr>
              <a:t>&lt;1</a:t>
            </a: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rPr>
              <a:t>장</a:t>
            </a:r>
            <a:r>
              <a:rPr xmlns:mc="http://schemas.openxmlformats.org/markup-compatibility/2006" xmlns:hp="http://schemas.haansoft.com/office/presentation/8.0" kumimoji="0" lang="en-US" altLang="ko-KR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rPr>
              <a:t>&gt; </a:t>
            </a: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rPr>
              <a:t>메타버스의 이해</a:t>
            </a:r>
            <a:endPara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<a:solidFill>
                <a:srgbClr val="ffffff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034" name=""/>
          <p:cNvPicPr>
            <a:picLocks noChangeAspect="1"/>
          </p:cNvPicPr>
          <p:nvPr userDrawn="1"/>
        </p:nvPicPr>
        <p:blipFill rotWithShape="1">
          <a:blip r:embed="rId3"/>
          <a:stretch>
            <a:fillRect/>
          </a:stretch>
        </p:blipFill>
        <p:spPr>
          <a:xfrm>
            <a:off x="1524000" y="914006"/>
            <a:ext cx="6057900" cy="4086225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목차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b="1" spc="-15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함초롬돋움"/>
                <a:ea typeface="함초롬돋움"/>
                <a:cs typeface="함초롬돋움"/>
              </a:rPr>
              <a:t>목차</a:t>
            </a:r>
            <a:endParaRPr kumimoji="0" lang="ko-KR" altLang="en-US" sz="4400" b="1" spc="-150">
              <a:solidFill>
                <a:schemeClr val="tx1">
                  <a:lumMod val="50000"/>
                  <a:lumOff val="50000"/>
                </a:schemeClr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150000"/>
              </a:lnSpc>
              <a:buFont typeface="+mj-lt"/>
              <a:buAutoNum type="arabicPeriod"/>
              <a:defRPr sz="2000" b="1">
                <a:solidFill>
                  <a:schemeClr val="tx1"/>
                </a:solidFill>
                <a:latin typeface="함초롬돋움"/>
                <a:ea typeface="함초롬돋움"/>
                <a:cs typeface="함초롬돋움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1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학습목표" preserve="1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5014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b="1" spc="-15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함초롬돋움"/>
                <a:ea typeface="함초롬돋움"/>
                <a:cs typeface="함초롬돋움"/>
              </a:rPr>
              <a:t>학습 목표</a:t>
            </a:r>
            <a:endParaRPr kumimoji="0" lang="ko-KR" altLang="en-US" sz="4400" b="1" spc="-150">
              <a:solidFill>
                <a:schemeClr val="tx1">
                  <a:lumMod val="50000"/>
                  <a:lumOff val="50000"/>
                </a:schemeClr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150000"/>
              </a:lnSpc>
              <a:buFont typeface="Arial"/>
              <a:buChar char="•"/>
              <a:defRPr sz="1800" b="1">
                <a:solidFill>
                  <a:schemeClr val="tx1"/>
                </a:solidFill>
                <a:latin typeface="함초롬돋움"/>
                <a:ea typeface="함초롬돋움"/>
                <a:cs typeface="함초롬돋움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섹션 목차" preserve="1" userDrawn="1">
  <p:cSld name="섹션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539552" y="184745"/>
            <a:ext cx="684076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124744" y="908051"/>
            <a:ext cx="2339752" cy="0"/>
          </a:xfrm>
          <a:prstGeom prst="line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4464496" y="908051"/>
            <a:ext cx="2339752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6804248" y="908051"/>
            <a:ext cx="2339752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0" y="908051"/>
            <a:ext cx="2339752" cy="0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Wingdings"/>
              <a:buChar char="n"/>
              <a:defRPr sz="1800" b="1">
                <a:latin typeface="함초롬돋움"/>
                <a:ea typeface="함초롬돋움"/>
                <a:cs typeface="함초롬돋움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Char char="§"/>
              <a:defRPr sz="1600">
                <a:latin typeface="함초롬돋움"/>
                <a:ea typeface="함초롬돋움"/>
                <a:cs typeface="함초롬돋움"/>
              </a:defRPr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/>
              <a:buChar char="•"/>
              <a:defRPr sz="1400">
                <a:latin typeface="함초롬돋움"/>
                <a:ea typeface="함초롬돋움"/>
                <a:cs typeface="함초롬돋움"/>
              </a:defRPr>
            </a:lvl3pPr>
            <a:lvl4pPr marL="809625" indent="-180975">
              <a:spcAft>
                <a:spcPts val="300"/>
              </a:spcAft>
              <a:buSzPct val="96000"/>
              <a:defRPr sz="1200">
                <a:latin typeface="함초롬돋움"/>
                <a:ea typeface="함초롬돋움"/>
                <a:cs typeface="함초롬돋움"/>
              </a:defRPr>
            </a:lvl4pPr>
            <a:lvl5pPr marL="990600" indent="-180975">
              <a:defRPr sz="1100">
                <a:latin typeface="함초롬돋움"/>
                <a:ea typeface="함초롬돋움"/>
                <a:cs typeface="함초롬돋움"/>
              </a:defRPr>
            </a:lvl5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8553698" y="6525344"/>
            <a:ext cx="648072" cy="36004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lvl="0" algn="ctr">
              <a:defRPr/>
            </a:pPr>
            <a:endParaRPr lang="ko-KR" altLang="en-US" sz="16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8244408" y="6525344"/>
            <a:ext cx="648072" cy="36004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lvl="0" algn="ctr">
              <a:defRPr/>
            </a:pPr>
            <a:fld id="{B921D178-B3E2-41DF-B6F9-C73B8CC656FA}" type="slidenum"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pPr lvl="0" algn="ctr">
                <a:defRPr/>
              </a:pPr>
              <a:t>‹#›</a:t>
            </a:fld>
            <a:endParaRPr lang="ko-KR" altLang="en-US" sz="160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본문2" preserve="1" userDrawn="1">
  <p:cSld name="본문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/>
          <p:cNvSpPr>
            <a:spLocks noGrp="1"/>
          </p:cNvSpPr>
          <p:nvPr>
            <p:ph type="title" idx="0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13" name="내용 개체 틀 2"/>
          <p:cNvSpPr>
            <a:spLocks noGrp="1"/>
          </p:cNvSpPr>
          <p:nvPr>
            <p:ph idx="1"/>
          </p:nvPr>
        </p:nvSpPr>
        <p:spPr>
          <a:xfrm>
            <a:off x="539552" y="1196752"/>
            <a:ext cx="3924944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Wingdings"/>
              <a:buChar char="n"/>
              <a:defRPr sz="1600" b="1">
                <a:latin typeface="함초롬돋움"/>
                <a:ea typeface="함초롬돋움"/>
                <a:cs typeface="함초롬돋움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Char char="§"/>
              <a:defRPr sz="1200">
                <a:latin typeface="함초롬돋움"/>
                <a:ea typeface="함초롬돋움"/>
                <a:cs typeface="함초롬돋움"/>
              </a:defRPr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/>
              <a:buChar char="•"/>
              <a:defRPr sz="1200">
                <a:latin typeface="함초롬돋움"/>
                <a:ea typeface="함초롬돋움"/>
                <a:cs typeface="함초롬돋움"/>
              </a:defRPr>
            </a:lvl3pPr>
            <a:lvl4pPr marL="809625" indent="-180975">
              <a:spcAft>
                <a:spcPts val="300"/>
              </a:spcAft>
              <a:buSzPct val="96000"/>
              <a:defRPr sz="1100">
                <a:latin typeface="함초롬돋움"/>
                <a:ea typeface="함초롬돋움"/>
                <a:cs typeface="함초롬돋움"/>
              </a:defRPr>
            </a:lvl4pPr>
            <a:lvl5pPr marL="990600" indent="-180975">
              <a:defRPr sz="1100">
                <a:latin typeface="함초롬돋움"/>
                <a:ea typeface="함초롬돋움"/>
                <a:cs typeface="함초롬돋움"/>
              </a:defRPr>
            </a:lvl5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15" name="내용 개체 틀 2"/>
          <p:cNvSpPr>
            <a:spLocks noGrp="1"/>
          </p:cNvSpPr>
          <p:nvPr>
            <p:ph idx="10"/>
          </p:nvPr>
        </p:nvSpPr>
        <p:spPr>
          <a:xfrm>
            <a:off x="4644008" y="1196752"/>
            <a:ext cx="3924944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Wingdings"/>
              <a:buChar char="n"/>
              <a:defRPr sz="1600" b="1">
                <a:latin typeface="함초롬돋움"/>
                <a:ea typeface="함초롬돋움"/>
                <a:cs typeface="함초롬돋움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Char char="§"/>
              <a:defRPr sz="1200">
                <a:latin typeface="함초롬돋움"/>
                <a:ea typeface="함초롬돋움"/>
                <a:cs typeface="함초롬돋움"/>
              </a:defRPr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/>
              <a:buChar char="•"/>
              <a:defRPr sz="1200">
                <a:latin typeface="함초롬돋움"/>
                <a:ea typeface="함초롬돋움"/>
                <a:cs typeface="함초롬돋움"/>
              </a:defRPr>
            </a:lvl3pPr>
            <a:lvl4pPr marL="809625" indent="-180975">
              <a:spcAft>
                <a:spcPts val="300"/>
              </a:spcAft>
              <a:buSzPct val="96000"/>
              <a:defRPr sz="1100">
                <a:latin typeface="함초롬돋움"/>
                <a:ea typeface="함초롬돋움"/>
                <a:cs typeface="함초롬돋움"/>
              </a:defRPr>
            </a:lvl4pPr>
            <a:lvl5pPr marL="990600" indent="-180975">
              <a:defRPr sz="1100">
                <a:latin typeface="함초롬돋움"/>
                <a:ea typeface="함초롬돋움"/>
                <a:cs typeface="함초롬돋움"/>
              </a:defRPr>
            </a:lvl5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pic>
        <p:nvPicPr>
          <p:cNvPr id="14" name="그림 29" descr="쿡북로고.jpg"/>
          <p:cNvPicPr>
            <a:picLocks noChangeAspect="1"/>
          </p:cNvPicPr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7668344" y="485909"/>
            <a:ext cx="1216025" cy="322262"/>
          </a:xfrm>
          <a:prstGeom prst="rect">
            <a:avLst/>
          </a:prstGeom>
          <a:noFill/>
          <a:ln w="9525">
            <a:noFill/>
            <a:miter/>
          </a:ln>
        </p:spPr>
      </p:pic>
      <p:cxnSp>
        <p:nvCxnSpPr>
          <p:cNvPr id="16" name="직선 연결선 15"/>
          <p:cNvCxnSpPr/>
          <p:nvPr userDrawn="1"/>
        </p:nvCxnSpPr>
        <p:spPr>
          <a:xfrm>
            <a:off x="2124744" y="908051"/>
            <a:ext cx="2339752" cy="0"/>
          </a:xfrm>
          <a:prstGeom prst="line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 userDrawn="1"/>
        </p:nvCxnSpPr>
        <p:spPr>
          <a:xfrm>
            <a:off x="4464496" y="908051"/>
            <a:ext cx="2339752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 userDrawn="1"/>
        </p:nvCxnSpPr>
        <p:spPr>
          <a:xfrm>
            <a:off x="6804248" y="908051"/>
            <a:ext cx="2339752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>
            <a:off x="0" y="908051"/>
            <a:ext cx="2339752" cy="0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8553698" y="6525344"/>
            <a:ext cx="648072" cy="36004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lvl="0" algn="ctr">
              <a:defRPr/>
            </a:pPr>
            <a:endParaRPr lang="ko-KR" altLang="en-US" sz="16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8244408" y="6525344"/>
            <a:ext cx="648072" cy="36004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lvl="0" algn="ctr">
              <a:defRPr/>
            </a:pPr>
            <a:fld id="{B921D178-B3E2-41DF-B6F9-C73B8CC656FA}" type="slidenum"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pPr lvl="0" algn="ctr">
                <a:defRPr/>
              </a:pPr>
              <a:t>‹#›</a:t>
            </a:fld>
            <a:endParaRPr lang="ko-KR" altLang="en-US" sz="160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1_끝" preserve="1" userDrawn="1">
  <p:cSld name="1_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6"/>
          <p:cNvSpPr/>
          <p:nvPr userDrawn="1"/>
        </p:nvSpPr>
        <p:spPr>
          <a:xfrm>
            <a:off x="-1" y="6165304"/>
            <a:ext cx="9144001" cy="6926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15" name="직사각형 10"/>
          <p:cNvSpPr/>
          <p:nvPr userDrawn="1"/>
        </p:nvSpPr>
        <p:spPr>
          <a:xfrm>
            <a:off x="0" y="6092750"/>
            <a:ext cx="9144000" cy="7255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2_사용자 지정 레이아웃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/>
          <p:cNvSpPr/>
          <p:nvPr userDrawn="1"/>
        </p:nvSpPr>
        <p:spPr>
          <a:xfrm>
            <a:off x="323057" y="404813"/>
            <a:ext cx="8497887" cy="6048375"/>
          </a:xfrm>
          <a:prstGeom prst="roundRect">
            <a:avLst>
              <a:gd name="adj" fmla="val 5013"/>
            </a:avLst>
          </a:prstGeom>
          <a:solidFill>
            <a:schemeClr val="accent1">
              <a:alpha val="84710"/>
            </a:schemeClr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solidFill>
                <a:schemeClr val="accent6"/>
              </a:solidFill>
            </a:endParaRPr>
          </a:p>
        </p:txBody>
      </p:sp>
      <p:sp>
        <p:nvSpPr>
          <p:cNvPr id="7" name="텍스트 개체 틀 6"/>
          <p:cNvSpPr>
            <a:spLocks noGrp="1"/>
          </p:cNvSpPr>
          <p:nvPr userDrawn="1"/>
        </p:nvSpPr>
        <p:spPr>
          <a:xfrm>
            <a:off x="719101" y="3412604"/>
            <a:ext cx="7704856" cy="93893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8" name="텍스트 개체 틀 6"/>
          <p:cNvSpPr>
            <a:spLocks noGrp="1"/>
          </p:cNvSpPr>
          <p:nvPr userDrawn="1"/>
        </p:nvSpPr>
        <p:spPr>
          <a:xfrm>
            <a:off x="719101" y="2348880"/>
            <a:ext cx="7704856" cy="93893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Blip>
                <a:blip r:embed="rId3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19572" y="3412604"/>
            <a:ext cx="7704856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48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0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719572" y="2348880"/>
            <a:ext cx="7704856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54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theme" Target="../theme/theme1.xml"  /><Relationship Id="rId9" Type="http://schemas.openxmlformats.org/officeDocument/2006/relationships/image" Target="../media/image4.png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preserve="1">
  <p:cSld name="Office 테마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 idx="0"/>
          </p:nvPr>
        </p:nvSpPr>
        <p:spPr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lvl="0">
              <a:defRPr/>
            </a:pPr>
            <a:fld id="{3C4A7B72-6AE8-49C2-8F32-E8A725FD610D}" type="datetime1">
              <a:rPr lang="ko-KR" altLang="en-US"/>
              <a:pPr lvl="0">
                <a:defRPr/>
              </a:pPr>
              <a:t>2023-05-03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lvl="0">
              <a:defRPr/>
            </a:pPr>
            <a:fld id="{52DD98C4-AD35-4759-9571-E1AA62A00DA9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2" r:id="rId1"/>
    <p:sldLayoutId id="2147484123" r:id="rId2"/>
    <p:sldLayoutId id="2147484124" r:id="rId3"/>
    <p:sldLayoutId id="2147484125" r:id="rId4"/>
    <p:sldLayoutId id="2147484126" r:id="rId5"/>
    <p:sldLayoutId id="2147484127" r:id="rId6"/>
    <p:sldLayoutId id="2147484128" r:id="rId7"/>
  </p:sldLayoutIdLst>
  <p:transition xmlns:mc="http://schemas.openxmlformats.org/markup-compatibility/2006" xmlns:hp="http://schemas.haansoft.com/office/presentation/8.0" mc:Ignorable="hp" hp:hslDur="500"/>
  <p:timing>
    <p:tnLst>
      <p:par>
        <p:cTn id="1" dur="indefinite" restart="never" nodeType="tmRoot"/>
      </p:par>
    </p:tnLst>
  </p:timing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/>
        <a:buBlip>
          <a:blip r:embed="rId9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3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7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8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9.png"  /><Relationship Id="rId3" Type="http://schemas.openxmlformats.org/officeDocument/2006/relationships/image" Target="../media/image10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1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2.png"  /><Relationship Id="rId3" Type="http://schemas.openxmlformats.org/officeDocument/2006/relationships/image" Target="../media/image13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4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5.png"  /><Relationship Id="rId3" Type="http://schemas.openxmlformats.org/officeDocument/2006/relationships/image" Target="../media/image16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7.png"  /><Relationship Id="rId3" Type="http://schemas.openxmlformats.org/officeDocument/2006/relationships/image" Target="../media/image18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9.png"  /><Relationship Id="rId3" Type="http://schemas.openxmlformats.org/officeDocument/2006/relationships/image" Target="../media/image20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21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22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23.png"  /><Relationship Id="rId3" Type="http://schemas.openxmlformats.org/officeDocument/2006/relationships/image" Target="../media/image24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25.png"  /><Relationship Id="rId3" Type="http://schemas.openxmlformats.org/officeDocument/2006/relationships/image" Target="../media/image26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hyperlink" Target="https://getbootstrap.kr/" TargetMode="External" /><Relationship Id="rId3" Type="http://schemas.openxmlformats.org/officeDocument/2006/relationships/image" Target="../media/image27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28.png"  /><Relationship Id="rId3" Type="http://schemas.openxmlformats.org/officeDocument/2006/relationships/image" Target="../media/image29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30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31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32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33.png"  /><Relationship Id="rId3" Type="http://schemas.openxmlformats.org/officeDocument/2006/relationships/image" Target="../media/image34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35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36.png"  /><Relationship Id="rId3" Type="http://schemas.openxmlformats.org/officeDocument/2006/relationships/image" Target="../media/image37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38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39.png"  /><Relationship Id="rId3" Type="http://schemas.openxmlformats.org/officeDocument/2006/relationships/image" Target="../media/image40.png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41.png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42.png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43.png"  /><Relationship Id="rId3" Type="http://schemas.openxmlformats.org/officeDocument/2006/relationships/image" Target="../media/image44.png"  /><Relationship Id="rId4" Type="http://schemas.openxmlformats.org/officeDocument/2006/relationships/image" Target="../media/image45.png"  /></Relationships>
</file>

<file path=ppt/slides/_rels/slide3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46.png"  /><Relationship Id="rId3" Type="http://schemas.openxmlformats.org/officeDocument/2006/relationships/image" Target="../media/image47.png"  /></Relationships>
</file>

<file path=ppt/slides/_rels/slide3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48.png"  /></Relationships>
</file>

<file path=ppt/slides/_rels/slide3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49.png"  /></Relationships>
</file>

<file path=ppt/slides/_rels/slide3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50.png"  /></Relationships>
</file>

<file path=ppt/slides/_rels/slide3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51.png"  /><Relationship Id="rId3" Type="http://schemas.openxmlformats.org/officeDocument/2006/relationships/image" Target="../media/image52.png"  /></Relationships>
</file>

<file path=ppt/slides/_rels/slide4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53.png"  /></Relationships>
</file>

<file path=ppt/slides/_rels/slide4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54.png"  /></Relationships>
</file>

<file path=ppt/slides/_rels/slide4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55.png"  /></Relationships>
</file>

<file path=ppt/slides/_rels/slide4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56.png"  /><Relationship Id="rId3" Type="http://schemas.openxmlformats.org/officeDocument/2006/relationships/image" Target="../media/image57.png"  /></Relationships>
</file>

<file path=ppt/slides/_rels/slide4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4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58.png"  /></Relationships>
</file>

<file path=ppt/slides/_rels/slide4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59.png"  /></Relationships>
</file>

<file path=ppt/slides/_rels/slide4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60.png"  /><Relationship Id="rId3" Type="http://schemas.openxmlformats.org/officeDocument/2006/relationships/image" Target="../media/image61.png"  /></Relationships>
</file>

<file path=ppt/slides/_rels/slide4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62.png"  /></Relationships>
</file>

<file path=ppt/slides/_rels/slide4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63.png"  /><Relationship Id="rId3" Type="http://schemas.openxmlformats.org/officeDocument/2006/relationships/image" Target="../media/image64.png"  /></Relationships>
</file>

<file path=ppt/slides/_rels/slide5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65.png"  /><Relationship Id="rId3" Type="http://schemas.openxmlformats.org/officeDocument/2006/relationships/image" Target="../media/image66.png"  /><Relationship Id="rId4" Type="http://schemas.openxmlformats.org/officeDocument/2006/relationships/image" Target="../media/image67.png"  /></Relationships>
</file>

<file path=ppt/slides/_rels/slide5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68.png"  /></Relationships>
</file>

<file path=ppt/slides/_rels/slide5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69.png"  /><Relationship Id="rId3" Type="http://schemas.openxmlformats.org/officeDocument/2006/relationships/image" Target="../media/image70.png"  /><Relationship Id="rId4" Type="http://schemas.openxmlformats.org/officeDocument/2006/relationships/image" Target="../media/image71.png"  /></Relationships>
</file>

<file path=ppt/slides/_rels/slide5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72.png"  /><Relationship Id="rId3" Type="http://schemas.openxmlformats.org/officeDocument/2006/relationships/image" Target="../media/image72.png"  /></Relationships>
</file>

<file path=ppt/slides/_rels/slide5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73.png"  /></Relationships>
</file>

<file path=ppt/slides/_rels/slide5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74.png"  /></Relationships>
</file>

<file path=ppt/slides/_rels/slide5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75.png"  /><Relationship Id="rId3" Type="http://schemas.openxmlformats.org/officeDocument/2006/relationships/image" Target="../media/image76.png"  /></Relationships>
</file>

<file path=ppt/slides/_rels/slide5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77.png"  /><Relationship Id="rId3" Type="http://schemas.openxmlformats.org/officeDocument/2006/relationships/image" Target="../media/image78.png"  /></Relationships>
</file>

<file path=ppt/slides/_rels/slide5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77.png"  /><Relationship Id="rId3" Type="http://schemas.openxmlformats.org/officeDocument/2006/relationships/image" Target="../media/image78.png"  /><Relationship Id="rId4" Type="http://schemas.openxmlformats.org/officeDocument/2006/relationships/image" Target="../media/image79.png"  /></Relationships>
</file>

<file path=ppt/slides/_rels/slide5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80.png"  /><Relationship Id="rId3" Type="http://schemas.openxmlformats.org/officeDocument/2006/relationships/image" Target="../media/image81.png"  /><Relationship Id="rId4" Type="http://schemas.openxmlformats.org/officeDocument/2006/relationships/image" Target="../media/image82.png"  /></Relationships>
</file>

<file path=ppt/slides/_rels/slide6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83.png"  /></Relationships>
</file>

<file path=ppt/slides/_rels/slide6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1852" y="5704114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anchor="ctr">
            <a:normAutofit/>
          </a:bodyPr>
          <a:lstStyle/>
          <a:p>
            <a:pPr lvl="0">
              <a:defRPr/>
            </a:pPr>
            <a:endParaRPr lang="ko-KR" altLang="en-US" sz="3600"/>
          </a:p>
        </p:txBody>
      </p:sp>
      <p:sp>
        <p:nvSpPr>
          <p:cNvPr id="3" name="TextBox 2"/>
          <p:cNvSpPr txBox="1"/>
          <p:nvPr/>
        </p:nvSpPr>
        <p:spPr>
          <a:xfrm>
            <a:off x="378823" y="5643154"/>
            <a:ext cx="8386354" cy="914400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lvl="0" algn="ctr">
              <a:defRPr/>
            </a:pPr>
            <a:r>
              <a:rPr lang="en-US" altLang="ko-KR" sz="30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&lt;1</a:t>
            </a:r>
            <a:r>
              <a:rPr lang="ko-KR" altLang="en-US" sz="30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장</a:t>
            </a:r>
            <a:r>
              <a:rPr lang="en-US" altLang="ko-KR" sz="30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&gt; </a:t>
            </a:r>
            <a:r>
              <a:rPr lang="ko-KR" altLang="en-US" sz="30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전기의 기본 개념과 팅커캐드</a:t>
            </a:r>
            <a:endParaRPr lang="ko-KR" altLang="en-US" sz="3000" b="1">
              <a:solidFill>
                <a:schemeClr val="bg1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7" name=""/>
          <p:cNvSpPr/>
          <p:nvPr/>
        </p:nvSpPr>
        <p:spPr>
          <a:xfrm>
            <a:off x="0" y="5380463"/>
            <a:ext cx="9144000" cy="147753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lvl="0">
              <a:defRPr/>
            </a:pPr>
            <a:endParaRPr/>
          </a:p>
        </p:txBody>
      </p:sp>
      <p:sp>
        <p:nvSpPr>
          <p:cNvPr id="8" name=""/>
          <p:cNvSpPr txBox="1"/>
          <p:nvPr/>
        </p:nvSpPr>
        <p:spPr>
          <a:xfrm>
            <a:off x="87313" y="5631831"/>
            <a:ext cx="8953499" cy="914400"/>
          </a:xfrm>
          <a:prstGeom prst="rect">
            <a:avLst/>
          </a:prstGeom>
        </p:spPr>
        <p:txBody>
          <a:bodyPr vert="horz" wrap="none" lIns="91440" tIns="45720" rIns="91440" bIns="45720" anchor="ctr">
            <a:normAutofit lnSpcReduction="10000"/>
          </a:bodyPr>
          <a:p>
            <a:pPr lvl="0" algn="ctr">
              <a:defRPr/>
            </a:pPr>
            <a:r>
              <a:rPr lang="en-US" altLang="ko-KR" sz="30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&lt;14</a:t>
            </a:r>
            <a:r>
              <a:rPr lang="ko-KR" altLang="en-US" sz="30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장</a:t>
            </a:r>
            <a:r>
              <a:rPr lang="en-US" altLang="ko-KR" sz="30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&gt;</a:t>
            </a:r>
            <a:r>
              <a:rPr lang="ko-KR" altLang="en-US" sz="30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 웹 서버 기본 기능 완성</a:t>
            </a:r>
            <a:endParaRPr lang="ko-KR" altLang="en-US" sz="3000" b="1">
              <a:solidFill>
                <a:schemeClr val="bg1"/>
              </a:solidFill>
              <a:latin typeface="함초롬돋움"/>
              <a:ea typeface="함초롬돋움"/>
              <a:cs typeface="함초롬돋움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1"/>
          <p:cNvSpPr>
            <a:spLocks noGrp="1"/>
          </p:cNvSpPr>
          <p:nvPr/>
        </p:nvSpPr>
        <p:spPr>
          <a:xfrm>
            <a:off x="719572" y="1749574"/>
            <a:ext cx="7966793" cy="4104456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p>
            <a:pPr marL="457200" lvl="0" indent="-457200" algn="l" rtl="0" eaLnBrk="0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19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게시물의 내용 페이지를 생성할 수 있는 코드를 작성한다.</a:t>
            </a:r>
            <a:endParaRPr xmlns:mc="http://schemas.openxmlformats.org/markup-compatibility/2006" xmlns:hp="http://schemas.haansoft.com/office/presentation/8.0" kumimoji="0" lang="ko-KR" altLang="en-US" sz="19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457200" lvl="0" indent="-457200" algn="l" rtl="0" eaLnBrk="0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19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시맨틱 url 정보 전달 방식을 이해하고 코드를 작성한다.</a:t>
            </a:r>
            <a:endParaRPr xmlns:mc="http://schemas.openxmlformats.org/markup-compatibility/2006" xmlns:hp="http://schemas.haansoft.com/office/presentation/8.0" kumimoji="0" lang="ko-KR" altLang="en-US" sz="19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457200" lvl="0" indent="-457200" algn="l" rtl="0" eaLnBrk="0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19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게시물 수정 페이지 및 기능을 이해하고 코드를 작성한다.</a:t>
            </a:r>
            <a:endParaRPr xmlns:mc="http://schemas.openxmlformats.org/markup-compatibility/2006" xmlns:hp="http://schemas.haansoft.com/office/presentation/8.0" kumimoji="0" lang="ko-KR" altLang="en-US" sz="19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457200" lvl="0" indent="-457200" algn="l" rtl="0" eaLnBrk="0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19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정적 파일에 대해 이해하고 사용한다.</a:t>
            </a:r>
            <a:endParaRPr xmlns:mc="http://schemas.openxmlformats.org/markup-compatibility/2006" xmlns:hp="http://schemas.haansoft.com/office/presentation/8.0" kumimoji="0" lang="ko-KR" altLang="en-US" sz="19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2100" b="1">
                <a:latin typeface="맑은 고딕"/>
                <a:ea typeface="맑은 고딕"/>
              </a:rPr>
              <a:t>01 </a:t>
            </a:r>
            <a:r>
              <a:rPr lang="ko-KR" altLang="en-US" sz="2100" b="1">
                <a:latin typeface="맑은 고딕"/>
                <a:ea typeface="맑은 고딕"/>
              </a:rPr>
              <a:t>게시물의 내용 페이지 생성</a:t>
            </a:r>
            <a:endParaRPr lang="ko-KR" altLang="en-US" sz="21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en-US" altLang="ko-KR" sz="2100" b="1">
                <a:latin typeface="맑은 고딕"/>
                <a:ea typeface="맑은 고딕"/>
              </a:rPr>
              <a:t>02</a:t>
            </a:r>
            <a:r>
              <a:rPr lang="ko-KR" altLang="en-US" sz="2100" b="1">
                <a:latin typeface="맑은 고딕"/>
                <a:ea typeface="맑은 고딕"/>
              </a:rPr>
              <a:t> 시멘틱 url 방식의 매개변수 처리</a:t>
            </a:r>
            <a:endParaRPr lang="ko-KR" altLang="en-US" sz="21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en-US" altLang="ko-KR" sz="2100" b="1">
                <a:latin typeface="맑은 고딕"/>
                <a:ea typeface="맑은 고딕"/>
              </a:rPr>
              <a:t>03 </a:t>
            </a:r>
            <a:r>
              <a:rPr lang="ko-KR" altLang="en-US" sz="2100" b="1">
                <a:latin typeface="맑은 고딕"/>
                <a:ea typeface="맑은 고딕"/>
              </a:rPr>
              <a:t>게시물 수정</a:t>
            </a:r>
            <a:endParaRPr lang="ko-KR" altLang="en-US" sz="21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en-US" altLang="ko-KR" sz="2100" b="1">
                <a:latin typeface="맑은 고딕"/>
                <a:ea typeface="맑은 고딕"/>
              </a:rPr>
              <a:t>04</a:t>
            </a:r>
            <a:r>
              <a:rPr lang="ko-KR" altLang="en-US" sz="2100" b="1">
                <a:latin typeface="맑은 고딕"/>
                <a:ea typeface="맑은 고딕"/>
              </a:rPr>
              <a:t> 게시판 기능 개선</a:t>
            </a:r>
            <a:endParaRPr lang="ko-KR" altLang="en-US" sz="21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endParaRPr lang="ko-KR" altLang="en-US" sz="21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endParaRPr lang="ko-KR" altLang="en-US" sz="21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endParaRPr lang="ko-KR" altLang="en-US" sz="18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endParaRPr lang="ko-KR" altLang="en-US" sz="24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endParaRPr lang="ko-KR" altLang="en-US" sz="24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endParaRPr lang="ko-KR" altLang="en-US" sz="24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endParaRPr lang="en-US" altLang="ko-KR" sz="2400" b="1"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719572" y="3429000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게시물의 내용 페이지 생성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719572" y="1916240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01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b="1"/>
              <a:t>일반 게시판의 내용 페이지 형태</a:t>
            </a:r>
            <a:endParaRPr lang="ko-KR" altLang="en-US" b="1"/>
          </a:p>
          <a:p>
            <a:pPr lvl="1">
              <a:defRPr/>
            </a:pPr>
            <a:r>
              <a:rPr lang="ko-KR" altLang="en-US"/>
              <a:t>게시물 리스트 중에 원하는 1개의 게시물을 선택하면 해당 게시물의 내용 페이지로 이동하는 형태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1. </a:t>
            </a:r>
            <a:r>
              <a:rPr lang="ko-KR" altLang="en-US"/>
              <a:t>게시물의 내용 페이지 생성</a:t>
            </a:r>
            <a:endParaRPr lang="ko-KR" altLang="en-US"/>
          </a:p>
        </p:txBody>
      </p:sp>
      <p:pic>
        <p:nvPicPr>
          <p:cNvPr id="3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38150" y="2519362"/>
            <a:ext cx="8267700" cy="2486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b="1"/>
              <a:t>일반 게시판의 내용 페이지 형태</a:t>
            </a:r>
            <a:endParaRPr lang="ko-KR" altLang="en-US" b="1"/>
          </a:p>
          <a:p>
            <a:pPr lvl="1">
              <a:defRPr/>
            </a:pPr>
            <a:r>
              <a:rPr lang="ko-KR" altLang="en-US"/>
              <a:t>게시판 리스트에서 게시물 항목을 클릭하면 다음과 같이 내용 페이지가 나타날 수 있도록 기능 구현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1. </a:t>
            </a:r>
            <a:r>
              <a:rPr lang="ko-KR" altLang="en-US"/>
              <a:t>게시물의 내용 페이지 생성</a:t>
            </a:r>
            <a:endParaRPr lang="ko-KR" altLang="en-US"/>
          </a:p>
        </p:txBody>
      </p:sp>
      <p:pic>
        <p:nvPicPr>
          <p:cNvPr id="3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14325" y="2274094"/>
            <a:ext cx="8515350" cy="3571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b="1"/>
              <a:t>내용 페이지 생성</a:t>
            </a:r>
            <a:endParaRPr lang="ko-KR" altLang="en-US" b="1"/>
          </a:p>
          <a:p>
            <a:pPr lvl="1">
              <a:defRPr/>
            </a:pPr>
            <a:r>
              <a:rPr lang="ko-KR" altLang="en-US"/>
              <a:t>UI 페이지이므로 ‘views’ 폴더 하위에 ‘content.ejs’라는 이름으로 파일 생성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기존 ‘index.html’ 파일의 내용 전체를 복사하여 ‘content.ejs’ 파일에 붙여넣기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내비게이션 바를 제외하고 필요 없는 본문의 내용은 삭제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1. </a:t>
            </a:r>
            <a:r>
              <a:rPr lang="ko-KR" altLang="en-US"/>
              <a:t>게시물의 내용 페이지 생성</a:t>
            </a:r>
            <a:endParaRPr lang="ko-KR" altLang="en-US"/>
          </a:p>
        </p:txBody>
      </p:sp>
      <p:pic>
        <p:nvPicPr>
          <p:cNvPr id="3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09675" y="2654961"/>
            <a:ext cx="6724648" cy="40769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b="1"/>
              <a:t>내용 페이지 생성</a:t>
            </a:r>
            <a:endParaRPr lang="ko-KR" altLang="en-US" b="1"/>
          </a:p>
          <a:p>
            <a:pPr lvl="1">
              <a:defRPr/>
            </a:pPr>
            <a:r>
              <a:rPr lang="ko-KR" altLang="en-US"/>
              <a:t>‘/content’로 요청하면 ‘content.ejs’ 파일 내용을 보여주도록 처리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‘server.js’ 파일로 이동하여 코드의 가장 하단에 작성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1. </a:t>
            </a:r>
            <a:r>
              <a:rPr lang="ko-KR" altLang="en-US"/>
              <a:t>게시물의 내용 페이지 생성</a:t>
            </a:r>
            <a:endParaRPr lang="ko-KR" altLang="en-US"/>
          </a:p>
        </p:txBody>
      </p:sp>
      <p:pic>
        <p:nvPicPr>
          <p:cNvPr id="3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7200" y="2536031"/>
            <a:ext cx="8229600" cy="2333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b="1"/>
              <a:t>내용 페이지 생성</a:t>
            </a:r>
            <a:endParaRPr lang="ko-KR" altLang="en-US" b="1"/>
          </a:p>
          <a:p>
            <a:pPr lvl="1">
              <a:defRPr/>
            </a:pPr>
            <a:r>
              <a:rPr lang="ko-KR" altLang="en-US"/>
              <a:t>잘 동작하는지 테스트하기 위해 서버를 종료한 후 다시 실행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r>
              <a:rPr lang="ko-KR" altLang="en-US"/>
              <a:t>웹 브라우저 주소창에 ‘http://localhost:8080/content’를 입력하여 접속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1. </a:t>
            </a:r>
            <a:r>
              <a:rPr lang="ko-KR" altLang="en-US"/>
              <a:t>게시물의 내용 페이지 생성</a:t>
            </a:r>
            <a:endParaRPr lang="ko-KR" altLang="en-US"/>
          </a:p>
        </p:txBody>
      </p:sp>
      <p:pic>
        <p:nvPicPr>
          <p:cNvPr id="37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81012" y="2059781"/>
            <a:ext cx="8181974" cy="714375"/>
          </a:xfrm>
          <a:prstGeom prst="rect">
            <a:avLst/>
          </a:prstGeom>
        </p:spPr>
      </p:pic>
      <p:pic>
        <p:nvPicPr>
          <p:cNvPr id="38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876425" y="3429000"/>
            <a:ext cx="5391150" cy="2847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b="1"/>
              <a:t>내용 페이지의 요청 구조</a:t>
            </a:r>
            <a:endParaRPr lang="ko-KR" altLang="en-US" b="1"/>
          </a:p>
          <a:p>
            <a:pPr lvl="1">
              <a:defRPr/>
            </a:pPr>
            <a:r>
              <a:rPr lang="ko-KR" altLang="en-US"/>
              <a:t>/content2 요청하면 content2.ejs 페이지를, /content3 요청하면 content3.ejs 페이지를, /content4 요청하면 content4.ejs 페이지가 보이게 생성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1. </a:t>
            </a:r>
            <a:r>
              <a:rPr lang="ko-KR" altLang="en-US"/>
              <a:t>게시물의 내용 페이지 생성</a:t>
            </a:r>
            <a:endParaRPr lang="ko-KR" altLang="en-US"/>
          </a:p>
        </p:txBody>
      </p:sp>
      <p:pic>
        <p:nvPicPr>
          <p:cNvPr id="39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828800" y="2452687"/>
            <a:ext cx="5486400" cy="2905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b="1"/>
              <a:t>내용 페이지의 요청 구조</a:t>
            </a:r>
            <a:endParaRPr lang="ko-KR" altLang="en-US" b="1"/>
          </a:p>
          <a:p>
            <a:pPr lvl="1">
              <a:defRPr/>
            </a:pPr>
            <a:r>
              <a:rPr lang="ko-KR" altLang="en-US"/>
              <a:t>일반 블로그에 게시물을 하나 클릭하여 구조 확인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r>
              <a:rPr lang="ko-KR" altLang="en-US"/>
              <a:t>게시물을 글 번호로 처리하는 형태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1. </a:t>
            </a:r>
            <a:r>
              <a:rPr lang="ko-KR" altLang="en-US"/>
              <a:t>게시물의 내용 페이지 생성</a:t>
            </a:r>
            <a:endParaRPr lang="ko-KR" altLang="en-US"/>
          </a:p>
        </p:txBody>
      </p:sp>
      <p:pic>
        <p:nvPicPr>
          <p:cNvPr id="40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23862" y="2009774"/>
            <a:ext cx="8296274" cy="2028825"/>
          </a:xfrm>
          <a:prstGeom prst="rect">
            <a:avLst/>
          </a:prstGeom>
        </p:spPr>
      </p:pic>
      <p:pic>
        <p:nvPicPr>
          <p:cNvPr id="41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76250" y="4457700"/>
            <a:ext cx="8191500" cy="1704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719572" y="3429000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시멘틱 url 방식의 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매개변수 처리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719572" y="1916240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02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51786" cy="5400600"/>
          </a:xfrm>
        </p:spPr>
        <p:txBody>
          <a:bodyPr/>
          <a:lstStyle/>
          <a:p>
            <a:pPr lvl="0">
              <a:defRPr/>
            </a:pPr>
            <a:r>
              <a:rPr lang="ko-KR" altLang="en-US" b="1"/>
              <a:t>시맨틱 url 방식의 정보 전달</a:t>
            </a:r>
            <a:endParaRPr lang="ko-KR" altLang="en-US" b="1"/>
          </a:p>
          <a:p>
            <a:pPr lvl="1">
              <a:defRPr/>
            </a:pPr>
            <a:r>
              <a:rPr lang="ko-KR" altLang="en-US"/>
              <a:t>함수 호출 시 실매개변수를 형식 매개변수에 전달하는 방식과 비슷</a:t>
            </a:r>
            <a:endParaRPr lang="ko-KR" altLang="en-US"/>
          </a:p>
          <a:p>
            <a:pPr marL="447675" lvl="2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시멘틱 url 방식의 매개변수 처리</a:t>
            </a:r>
            <a:endParaRPr lang="ko-KR" altLang="en-US"/>
          </a:p>
        </p:txBody>
      </p:sp>
      <p:pic>
        <p:nvPicPr>
          <p:cNvPr id="1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23863" y="2014537"/>
            <a:ext cx="8296274" cy="28289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51786" cy="5400600"/>
          </a:xfrm>
        </p:spPr>
        <p:txBody>
          <a:bodyPr/>
          <a:lstStyle/>
          <a:p>
            <a:pPr lvl="0">
              <a:defRPr/>
            </a:pPr>
            <a:r>
              <a:rPr lang="ko-KR" altLang="en-US" b="1"/>
              <a:t>시맨틱 url 방식의 정보 전달</a:t>
            </a:r>
            <a:endParaRPr lang="ko-KR" altLang="en-US" b="1"/>
          </a:p>
          <a:p>
            <a:pPr lvl="1">
              <a:defRPr/>
            </a:pPr>
            <a:r>
              <a:rPr lang="ko-KR" altLang="en-US"/>
              <a:t>‘server.js’ 파일의 코드를 추가 및 수정하고 서버를 종료한 후 다시 실행</a:t>
            </a:r>
            <a:endParaRPr lang="ko-KR" altLang="en-US"/>
          </a:p>
          <a:p>
            <a:pPr marL="447675" lvl="2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시멘틱 url 방식의 매개변수 처리</a:t>
            </a:r>
            <a:endParaRPr lang="ko-KR" altLang="en-US"/>
          </a:p>
        </p:txBody>
      </p:sp>
      <p:pic>
        <p:nvPicPr>
          <p:cNvPr id="1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2437" y="2105025"/>
            <a:ext cx="8239125" cy="2647950"/>
          </a:xfrm>
          <a:prstGeom prst="rect">
            <a:avLst/>
          </a:prstGeom>
        </p:spPr>
      </p:pic>
      <p:pic>
        <p:nvPicPr>
          <p:cNvPr id="14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81012" y="4760119"/>
            <a:ext cx="8181974" cy="18383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51786" cy="5400600"/>
          </a:xfrm>
        </p:spPr>
        <p:txBody>
          <a:bodyPr/>
          <a:lstStyle/>
          <a:p>
            <a:pPr lvl="0">
              <a:defRPr/>
            </a:pPr>
            <a:r>
              <a:rPr lang="ko-KR" altLang="en-US" b="1"/>
              <a:t>url 파라미터로 DB 데이터 검색</a:t>
            </a:r>
            <a:endParaRPr lang="ko-KR" altLang="en-US" b="1"/>
          </a:p>
          <a:p>
            <a:pPr lvl="1">
              <a:defRPr/>
            </a:pPr>
            <a:r>
              <a:rPr lang="ko-KR" altLang="en-US"/>
              <a:t>/list 라우터 함수의 DB 처리 코드를 참고하여 코드 작성</a:t>
            </a:r>
            <a:endParaRPr lang="ko-KR" altLang="en-US"/>
          </a:p>
          <a:p>
            <a:pPr marL="447675" lvl="2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시멘틱 url 방식의 매개변수 처리</a:t>
            </a:r>
            <a:endParaRPr lang="ko-KR" altLang="en-US"/>
          </a:p>
        </p:txBody>
      </p:sp>
      <p:grpSp>
        <p:nvGrpSpPr>
          <p:cNvPr id="17" name=""/>
          <p:cNvGrpSpPr/>
          <p:nvPr/>
        </p:nvGrpSpPr>
        <p:grpSpPr>
          <a:xfrm rot="0">
            <a:off x="1035844" y="2113736"/>
            <a:ext cx="7072312" cy="4233108"/>
            <a:chOff x="476250" y="2505075"/>
            <a:chExt cx="8191500" cy="4902994"/>
          </a:xfrm>
        </p:grpSpPr>
        <p:pic>
          <p:nvPicPr>
            <p:cNvPr id="15" name="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476250" y="2505075"/>
              <a:ext cx="8191500" cy="1847850"/>
            </a:xfrm>
            <a:prstGeom prst="rect">
              <a:avLst/>
            </a:prstGeom>
          </p:spPr>
        </p:pic>
        <p:pic>
          <p:nvPicPr>
            <p:cNvPr id="16" name="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547688" y="4274344"/>
              <a:ext cx="8105774" cy="3133725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51786" cy="5400600"/>
          </a:xfrm>
        </p:spPr>
        <p:txBody>
          <a:bodyPr/>
          <a:lstStyle/>
          <a:p>
            <a:pPr lvl="0">
              <a:defRPr/>
            </a:pPr>
            <a:r>
              <a:rPr lang="ko-KR" altLang="en-US" b="1"/>
              <a:t>url 파라미터로 DB 데이터 검색</a:t>
            </a:r>
            <a:endParaRPr lang="ko-KR" altLang="en-US" b="1"/>
          </a:p>
          <a:p>
            <a:pPr lvl="1">
              <a:defRPr/>
            </a:pPr>
            <a:r>
              <a:rPr lang="ko-KR" altLang="en-US"/>
              <a:t>서버를 내렸다가 다시 올리고 몽고DB에 접속하여 특정 도큐먼트의 _id 값을 복사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266700" lvl="1" indent="0">
              <a:buNone/>
              <a:defRPr/>
            </a:pPr>
            <a:endParaRPr lang="ko-KR" altLang="en-US"/>
          </a:p>
          <a:p>
            <a:pPr lvl="1">
              <a:defRPr/>
            </a:pPr>
            <a:r>
              <a:rPr lang="ko-KR" altLang="en-US"/>
              <a:t>주소창에 ‘http://localhost:8080/content/’를 입력하여 기본 주소를 입력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이 주소의 뒷부분에 복사한 _id 값 ‘641f974ab949f4f65a4aede9’를 붙여넣기</a:t>
            </a:r>
            <a:endParaRPr lang="ko-KR" altLang="en-US"/>
          </a:p>
          <a:p>
            <a:pPr marL="447675" lvl="2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시멘틱 url 방식의 매개변수 처리</a:t>
            </a:r>
            <a:endParaRPr lang="ko-KR" altLang="en-US"/>
          </a:p>
        </p:txBody>
      </p:sp>
      <p:pic>
        <p:nvPicPr>
          <p:cNvPr id="1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90537" y="2012156"/>
            <a:ext cx="8162925" cy="1857375"/>
          </a:xfrm>
          <a:prstGeom prst="rect">
            <a:avLst/>
          </a:prstGeom>
        </p:spPr>
      </p:pic>
      <p:pic>
        <p:nvPicPr>
          <p:cNvPr id="19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881187" y="4881562"/>
            <a:ext cx="5381625" cy="1047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51786" cy="5400600"/>
          </a:xfrm>
        </p:spPr>
        <p:txBody>
          <a:bodyPr/>
          <a:lstStyle/>
          <a:p>
            <a:pPr lvl="0">
              <a:defRPr/>
            </a:pPr>
            <a:r>
              <a:rPr lang="ko-KR" altLang="en-US" b="1"/>
              <a:t>url 파라미터로 DB 데이터 검색</a:t>
            </a:r>
            <a:endParaRPr lang="ko-KR" altLang="en-US" b="1"/>
          </a:p>
          <a:p>
            <a:pPr lvl="1">
              <a:defRPr/>
            </a:pPr>
            <a:r>
              <a:rPr lang="ko-KR" altLang="en-US"/>
              <a:t>‘641f974ab949f4f65a4aede9’의 값이 그대로 /content/:id 라우터의 id에 전달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터미널 창의 결과를 확인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266700" lvl="1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447675" lvl="2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시멘틱 url 방식의 매개변수 처리</a:t>
            </a:r>
            <a:endParaRPr lang="ko-KR" altLang="en-US"/>
          </a:p>
        </p:txBody>
      </p:sp>
      <p:pic>
        <p:nvPicPr>
          <p:cNvPr id="20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38150" y="2366962"/>
            <a:ext cx="8267700" cy="388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51786" cy="5400600"/>
          </a:xfrm>
        </p:spPr>
        <p:txBody>
          <a:bodyPr/>
          <a:lstStyle/>
          <a:p>
            <a:pPr lvl="0">
              <a:defRPr/>
            </a:pPr>
            <a:r>
              <a:rPr lang="ko-KR" altLang="en-US" b="1"/>
              <a:t>검색한 데이터 화면 출력</a:t>
            </a:r>
            <a:endParaRPr lang="ko-KR" altLang="en-US" b="1"/>
          </a:p>
          <a:p>
            <a:pPr lvl="1">
              <a:defRPr/>
            </a:pPr>
            <a:r>
              <a:rPr lang="ko-KR" altLang="en-US"/>
              <a:t>코드의 12줄에서 검색한 결과 result를 data라는 이름으로 ‘content.ejs’ 파일에 전송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ejs 파일에서는 넘겨받은 data를 사용하여 해당 문법에 맞게 화면에 출력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266700" lvl="1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447675" lvl="2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시멘틱 url 방식의 매개변수 처리</a:t>
            </a:r>
            <a:endParaRPr lang="ko-KR" altLang="en-US"/>
          </a:p>
        </p:txBody>
      </p:sp>
      <p:pic>
        <p:nvPicPr>
          <p:cNvPr id="2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47675" y="2697957"/>
            <a:ext cx="8248650" cy="2295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51786" cy="5400600"/>
          </a:xfrm>
        </p:spPr>
        <p:txBody>
          <a:bodyPr/>
          <a:lstStyle/>
          <a:p>
            <a:pPr lvl="0">
              <a:defRPr/>
            </a:pPr>
            <a:r>
              <a:rPr lang="ko-KR" altLang="en-US" b="1"/>
              <a:t>검색한 데이터 화면 출력</a:t>
            </a:r>
            <a:endParaRPr lang="ko-KR" altLang="en-US" b="1"/>
          </a:p>
          <a:p>
            <a:pPr lvl="1">
              <a:defRPr/>
            </a:pPr>
            <a:r>
              <a:rPr lang="ko-KR" altLang="en-US"/>
              <a:t>‘list.ejs’ 파일에서 작성한 문법을 생각하면서 ‘content.ejs’ 파일로 이동하여 코드 수정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266700" lvl="1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447675" lvl="2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시멘틱 url 방식의 매개변수 처리</a:t>
            </a:r>
            <a:endParaRPr lang="ko-KR" altLang="en-US"/>
          </a:p>
        </p:txBody>
      </p:sp>
      <p:pic>
        <p:nvPicPr>
          <p:cNvPr id="23" name=""/>
          <p:cNvPicPr>
            <a:picLocks noChangeAspect="1"/>
          </p:cNvPicPr>
          <p:nvPr/>
        </p:nvPicPr>
        <p:blipFill rotWithShape="1">
          <a:blip r:embed="rId2"/>
          <a:srcRect r="18850"/>
          <a:stretch>
            <a:fillRect/>
          </a:stretch>
        </p:blipFill>
        <p:spPr>
          <a:xfrm>
            <a:off x="202406" y="2055308"/>
            <a:ext cx="5183979" cy="3056946"/>
          </a:xfrm>
          <a:prstGeom prst="rect">
            <a:avLst/>
          </a:prstGeom>
        </p:spPr>
      </p:pic>
      <p:pic>
        <p:nvPicPr>
          <p:cNvPr id="24" name=""/>
          <p:cNvPicPr>
            <a:picLocks noChangeAspect="1"/>
          </p:cNvPicPr>
          <p:nvPr/>
        </p:nvPicPr>
        <p:blipFill rotWithShape="1">
          <a:blip r:embed="rId3"/>
          <a:srcRect r="23280"/>
          <a:stretch>
            <a:fillRect/>
          </a:stretch>
        </p:blipFill>
        <p:spPr>
          <a:xfrm>
            <a:off x="4075252" y="4343105"/>
            <a:ext cx="4878276" cy="24203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51786" cy="5400600"/>
          </a:xfrm>
        </p:spPr>
        <p:txBody>
          <a:bodyPr/>
          <a:lstStyle/>
          <a:p>
            <a:pPr lvl="0">
              <a:defRPr/>
            </a:pPr>
            <a:r>
              <a:rPr lang="ko-KR" altLang="en-US" b="1"/>
              <a:t>검색한 데이터 화면 출력</a:t>
            </a:r>
            <a:endParaRPr lang="ko-KR" altLang="en-US" b="1"/>
          </a:p>
          <a:p>
            <a:pPr lvl="1">
              <a:defRPr/>
            </a:pPr>
            <a:r>
              <a:rPr lang="ko-KR" altLang="en-US"/>
              <a:t>주소창에 글 번호를 직접 입력하여 요청하는 대신 링크를 클릭함으로써 요청하게 변경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‘list.ejs’ 파일로 이동하고, 제목인 title 항목에 &lt;a&gt; 태그를 사용하여 링크 사용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266700" lvl="1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447675" lvl="2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시멘틱 url 방식의 매개변수 처리</a:t>
            </a:r>
            <a:endParaRPr lang="ko-KR" altLang="en-US"/>
          </a:p>
        </p:txBody>
      </p:sp>
      <p:pic>
        <p:nvPicPr>
          <p:cNvPr id="2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78607" y="2435964"/>
            <a:ext cx="5110161" cy="3248135"/>
          </a:xfrm>
          <a:prstGeom prst="rect">
            <a:avLst/>
          </a:prstGeom>
        </p:spPr>
      </p:pic>
      <p:pic>
        <p:nvPicPr>
          <p:cNvPr id="26" name=""/>
          <p:cNvPicPr>
            <a:picLocks noChangeAspect="1"/>
          </p:cNvPicPr>
          <p:nvPr/>
        </p:nvPicPr>
        <p:blipFill rotWithShape="1">
          <a:blip r:embed="rId3"/>
          <a:srcRect l="560"/>
          <a:stretch>
            <a:fillRect/>
          </a:stretch>
        </p:blipFill>
        <p:spPr>
          <a:xfrm>
            <a:off x="3904858" y="4608037"/>
            <a:ext cx="5093484" cy="21594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51786" cy="5400600"/>
          </a:xfrm>
        </p:spPr>
        <p:txBody>
          <a:bodyPr/>
          <a:lstStyle/>
          <a:p>
            <a:pPr lvl="0">
              <a:defRPr/>
            </a:pPr>
            <a:r>
              <a:rPr lang="ko-KR" altLang="en-US" b="1"/>
              <a:t>내용 페이지에 부트스트랩 적용</a:t>
            </a:r>
            <a:endParaRPr lang="ko-KR" altLang="en-US" b="1"/>
          </a:p>
          <a:p>
            <a:pPr lvl="1">
              <a:defRPr/>
            </a:pPr>
            <a:r>
              <a:rPr lang="ko-KR" altLang="en-US"/>
              <a:t>내용 페이지를 꾸미기 위해 부트스트랩 페이지(</a:t>
            </a:r>
            <a:r>
              <a:rPr lang="ko-KR" altLang="en-US">
                <a:hlinkClick r:id="rId2"/>
              </a:rPr>
              <a:t>https://getbootstrap.kr/</a:t>
            </a:r>
            <a:r>
              <a:rPr lang="ko-KR" altLang="en-US"/>
              <a:t>)로 이동</a:t>
            </a:r>
            <a:endParaRPr lang="ko-KR" altLang="en-US"/>
          </a:p>
          <a:p>
            <a:pPr lvl="1">
              <a:defRPr/>
            </a:pPr>
            <a:r>
              <a:rPr lang="en-US" altLang="ko-KR"/>
              <a:t>내용을 디자인할 때 주로 사용하는 스타일 ‘카드’</a:t>
            </a:r>
            <a:r>
              <a:rPr lang="ko-KR" altLang="en-US"/>
              <a:t>의 제목, 텍스트, 링크 형식의 코드 사용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266700" lvl="1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447675" lvl="2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시멘틱 url 방식의 매개변수 처리</a:t>
            </a:r>
            <a:endParaRPr lang="ko-KR" altLang="en-US"/>
          </a:p>
        </p:txBody>
      </p:sp>
      <p:pic>
        <p:nvPicPr>
          <p:cNvPr id="2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04937" y="2505075"/>
            <a:ext cx="6334125" cy="3924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51786" cy="5400600"/>
          </a:xfrm>
        </p:spPr>
        <p:txBody>
          <a:bodyPr/>
          <a:lstStyle/>
          <a:p>
            <a:pPr lvl="0">
              <a:defRPr/>
            </a:pPr>
            <a:r>
              <a:rPr lang="ko-KR" altLang="en-US" b="1"/>
              <a:t>내용 페이지에 부트스트랩 적용</a:t>
            </a:r>
            <a:endParaRPr lang="ko-KR" altLang="en-US" b="1"/>
          </a:p>
          <a:p>
            <a:pPr lvl="1">
              <a:defRPr/>
            </a:pPr>
            <a:r>
              <a:rPr lang="ja-JP" altLang="en-US"/>
              <a:t>부트스트랩 페이지의 〔컴포넌트〕 → 〔카드〕에서 코드를 그대로 복사</a:t>
            </a:r>
            <a:endParaRPr lang="ja-JP" altLang="en-US"/>
          </a:p>
          <a:p>
            <a:pPr lvl="1">
              <a:defRPr/>
            </a:pPr>
            <a:r>
              <a:rPr lang="ja-JP" altLang="en-US"/>
              <a:t>‘content.ejs’ 파일에 붙여넣고 기존에 출력했던 데이터를 이 코드 안에 적용</a:t>
            </a:r>
            <a:endParaRPr lang="ja-JP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266700" lvl="1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447675" lvl="2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시멘틱 url 방식의 매개변수 처리</a:t>
            </a:r>
            <a:endParaRPr lang="ko-KR" altLang="en-US"/>
          </a:p>
        </p:txBody>
      </p:sp>
      <p:grpSp>
        <p:nvGrpSpPr>
          <p:cNvPr id="30" name=""/>
          <p:cNvGrpSpPr/>
          <p:nvPr/>
        </p:nvGrpSpPr>
        <p:grpSpPr>
          <a:xfrm rot="0">
            <a:off x="1762125" y="2508785"/>
            <a:ext cx="5715000" cy="4083567"/>
            <a:chOff x="523875" y="1538287"/>
            <a:chExt cx="8191500" cy="5853113"/>
          </a:xfrm>
        </p:grpSpPr>
        <p:pic>
          <p:nvPicPr>
            <p:cNvPr id="28" name="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523875" y="1538287"/>
              <a:ext cx="8096250" cy="3781425"/>
            </a:xfrm>
            <a:prstGeom prst="rect">
              <a:avLst/>
            </a:prstGeom>
          </p:spPr>
        </p:pic>
        <p:pic>
          <p:nvPicPr>
            <p:cNvPr id="29" name="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542925" y="5219700"/>
              <a:ext cx="8172450" cy="21717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51786" cy="5400600"/>
          </a:xfrm>
        </p:spPr>
        <p:txBody>
          <a:bodyPr/>
          <a:lstStyle/>
          <a:p>
            <a:pPr lvl="0">
              <a:defRPr/>
            </a:pPr>
            <a:r>
              <a:rPr lang="ko-KR" altLang="en-US" b="1"/>
              <a:t>내용 페이지에 부트스트랩 적용</a:t>
            </a:r>
            <a:endParaRPr lang="ko-KR" altLang="en-US" b="1"/>
          </a:p>
          <a:p>
            <a:pPr lvl="1">
              <a:defRPr/>
            </a:pPr>
            <a:r>
              <a:rPr lang="ko-KR" altLang="en-US"/>
              <a:t>‘http://localhost:8080/list’를 입력하여 접속해 게시판의 게시물 클릭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266700" lvl="1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447675" lvl="2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시멘틱 url 방식의 매개변수 처리</a:t>
            </a:r>
            <a:endParaRPr lang="ko-KR" altLang="en-US"/>
          </a:p>
        </p:txBody>
      </p:sp>
      <p:pic>
        <p:nvPicPr>
          <p:cNvPr id="31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61962" y="2143125"/>
            <a:ext cx="8220074" cy="4114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719572" y="3429000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게시물 수정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719572" y="1984276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03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게시물 수정                                                            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게시물 수정 페이지 생성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‘수정하기’를 클릭하면 현재 내용의 항목들이 수정될 수 있도록 구현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3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408286" y="1963634"/>
            <a:ext cx="4327428" cy="46240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게시물 수정                                                            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게시물 수정 페이지 생성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‘edit.ejs’라는 이름의 파일 생성 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‘enter.ejs’ 파일의 전체 내용을 복사하여 ‘edit.ejs’ 파일에 붙여 넣고 타이틀 부분만 &lt;title&gt;Edit&lt;/title&gt;로 변경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3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386012" y="2891366"/>
            <a:ext cx="4371975" cy="2514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게시물 수정                                                            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게시물 수정 요청 라우터 생성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‘ server.js’ 파일로 이동하여 작성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266700" lvl="1" indent="0"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서버를 재시작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37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76250" y="1969029"/>
            <a:ext cx="8191500" cy="2009775"/>
          </a:xfrm>
          <a:prstGeom prst="rect">
            <a:avLst/>
          </a:prstGeom>
        </p:spPr>
      </p:pic>
      <p:pic>
        <p:nvPicPr>
          <p:cNvPr id="38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76250" y="4440766"/>
            <a:ext cx="8191500" cy="1066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게시물 수정                                                            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35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게시물 수정 요청 라우터 생성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주소창에 ‘http://localhost:8080/edit’로 요청하여 페이지의 출력 결과 확인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개선해야 할 2가지 포인트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어떤 게시물을 수정할지에 대한 요청 게시물 ID 정보를 가져와야 함 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해당 게시물의 정보를 몽고DB에서 가져와 페이지에 제목, 내용, 작성일을 표시해야 함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39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946028" y="3075435"/>
            <a:ext cx="3251942" cy="35646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게시물 수정                                                            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35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게시물 수정 요청 라우터 생성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/edit 라우터 수정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40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42912" y="2074333"/>
            <a:ext cx="8258174" cy="2609850"/>
          </a:xfrm>
          <a:prstGeom prst="rect">
            <a:avLst/>
          </a:prstGeom>
        </p:spPr>
      </p:pic>
      <p:pic>
        <p:nvPicPr>
          <p:cNvPr id="41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" y="4702704"/>
            <a:ext cx="8229600" cy="18192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게시물 수정                                                            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35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url 파라미터로 DB 데이터 검색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/edit/:id 요청에 대한 라우터를 작성 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요청한 게시물의 결과를 몽고DB에서 검색하도록 작성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4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64129" y="2416109"/>
            <a:ext cx="7415741" cy="41847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게시물 수정                                                            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35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url 파라미터로 DB 데이터 검색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‘http://localhost:8080/list’를 입력하여 접속해 터미널 창에 출력되는 게시물 정보 중에 id를 1개 복사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‘http://localhost:8080/edit/’까지 기본 주소를 입력하고 이 뒤에 복사한_id 값 ‘641f974ab949f4f65a4aede9’를 붙여넣기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4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609850" y="2243666"/>
            <a:ext cx="3924300" cy="1905000"/>
          </a:xfrm>
          <a:prstGeom prst="rect">
            <a:avLst/>
          </a:prstGeom>
        </p:spPr>
      </p:pic>
      <p:pic>
        <p:nvPicPr>
          <p:cNvPr id="44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390775" y="4987396"/>
            <a:ext cx="4362450" cy="904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게시물 수정                                                            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35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url 파라미터로 DB 데이터 검색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요청하면 641f974ab949f4f65a4aede9의 값이 그대로 /edit/:id 라우터의 id에 전달됨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4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7200" y="2175404"/>
            <a:ext cx="8229600" cy="3819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게시물 수정                                                            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35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검색한 데이터 화면 출력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코드의 11줄에서 검색한 결과 result를 data라는 이름으로 ‘edit.ejs’ 파일에 전송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‘ejs’ 파일에서는 넘겨받은 data를 사용하여 해당 항목에 맞게 화면에 출력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4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51945" y="2498266"/>
            <a:ext cx="7640108" cy="41051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게시물 수정                                                            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336386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검색한 데이터 화면 출력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‘edit.ejs’ 파일로 이동하여    코드 수정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grpSp>
        <p:nvGrpSpPr>
          <p:cNvPr id="49" name=""/>
          <p:cNvGrpSpPr/>
          <p:nvPr/>
        </p:nvGrpSpPr>
        <p:grpSpPr>
          <a:xfrm rot="0">
            <a:off x="3936204" y="1101929"/>
            <a:ext cx="5100638" cy="5517434"/>
            <a:chOff x="485775" y="657225"/>
            <a:chExt cx="8172450" cy="8840258"/>
          </a:xfrm>
        </p:grpSpPr>
        <p:pic>
          <p:nvPicPr>
            <p:cNvPr id="47" name="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500062" y="657225"/>
              <a:ext cx="8143874" cy="5543550"/>
            </a:xfrm>
            <a:prstGeom prst="rect">
              <a:avLst/>
            </a:prstGeom>
          </p:spPr>
        </p:pic>
        <p:pic>
          <p:nvPicPr>
            <p:cNvPr id="48" name="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485775" y="6011333"/>
              <a:ext cx="8172450" cy="3486150"/>
            </a:xfrm>
            <a:prstGeom prst="rect">
              <a:avLst/>
            </a:prstGeom>
          </p:spPr>
        </p:pic>
      </p:grpSp>
      <p:pic>
        <p:nvPicPr>
          <p:cNvPr id="50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42875" y="3248025"/>
            <a:ext cx="3776560" cy="3390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게시물 수정                                                            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0692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검색한 데이터 화면 출력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내용 페이지에서 ‘수정하기’를 클릭하면 해당 수정 페이지로 이동하도록 하기 위해 ‘content.ejs’ 파일로 이동하고 ‘수정하기’ 링크의 이동 주소를 추가 입력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grpSp>
        <p:nvGrpSpPr>
          <p:cNvPr id="53" name=""/>
          <p:cNvGrpSpPr/>
          <p:nvPr/>
        </p:nvGrpSpPr>
        <p:grpSpPr>
          <a:xfrm rot="0">
            <a:off x="509587" y="2333625"/>
            <a:ext cx="8162926" cy="3324225"/>
            <a:chOff x="509587" y="2819400"/>
            <a:chExt cx="8162926" cy="3324225"/>
          </a:xfrm>
        </p:grpSpPr>
        <p:pic>
          <p:nvPicPr>
            <p:cNvPr id="51" name="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523875" y="2819400"/>
              <a:ext cx="8096250" cy="1219200"/>
            </a:xfrm>
            <a:prstGeom prst="rect">
              <a:avLst/>
            </a:prstGeom>
          </p:spPr>
        </p:pic>
        <p:pic>
          <p:nvPicPr>
            <p:cNvPr id="52" name="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509587" y="3914775"/>
              <a:ext cx="8162925" cy="222885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게시물 수정                                                            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0692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검색한 데이터 화면 출력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수정페이지 ‘edit.ejs’로 이동하고, 각 입력 항목에 각각의 데이터가 입력한 상태로 출력되는지 확인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5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14362" y="2363209"/>
            <a:ext cx="7915274" cy="40175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게시물 수정                                                            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0692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게시물 수정 저장 라우터 생성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‘enter.ejs’ 파일의 &lt;저장&gt; 버튼과 동일한 동작을 하게 되므로 &lt;수정&gt; 버튼을 클릭하면 새로운 데이터가 추가되는 현상이 발생하는 것을 막기 위해 코드를 수정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5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04850" y="2355916"/>
            <a:ext cx="7734300" cy="29272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게시물 수정                                                            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0692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게시물 수정 저장 라우터 생성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기존 /save 요청 라우터 코드를 참고하여 ‘server.js’ 파일로 이동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post 방식의 /edit 요청 라우터를 작성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5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443036" y="2410455"/>
            <a:ext cx="6257926" cy="42373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게시물 수정                                                            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0692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게시물 수정 저장 라우터 생성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몽고DB 데이터를 수정하기 위해서 updateOne 함수를 사용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id로 수정할 게시물을 찾아 $set 연산자를 통해 수정할 값을 업데이트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57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66725" y="2066925"/>
            <a:ext cx="8210550" cy="742950"/>
          </a:xfrm>
          <a:prstGeom prst="rect">
            <a:avLst/>
          </a:prstGeom>
        </p:spPr>
      </p:pic>
      <p:pic>
        <p:nvPicPr>
          <p:cNvPr id="58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61962" y="3562350"/>
            <a:ext cx="8220074" cy="6953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게시물 수정                                                            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0692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게시물 수정 저장 라우터 생성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서버를 재시작하고 게시판의 게시물을 클릭하여 내용 페이지로 이동한 후 ‘수정하기’ 링크를 클릭하여 데이터 내용을 수정하고 &lt;수정&gt; 버튼을 클릭하여 수정이 반영되는지 확인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59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04862" y="2488227"/>
            <a:ext cx="7534274" cy="41103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게시물 수정                                                            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0692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게시물 수정 저장 라우터 생성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‘edit.ejs’ 파일로 이동하여 다음과 같이 코드 추가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61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00124" y="2070466"/>
            <a:ext cx="7143751" cy="46030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게시물 수정                                                            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0692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게시물 수정 저장 라우터 생성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게시판의 게시물을 클릭하여 내용 페이지로 이동한 후 ‘수정하기’ 링크를 클릭 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데이터의내용을 수정한 후 &lt;수정&gt; 버튼을 클릭하여 변경 사항이 반영되는지 확인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6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61963" y="2505075"/>
            <a:ext cx="8220074" cy="3067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게시물 수정                                                            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lang="ko-KR" altLang="en-US"/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updateOne 함수와 같이 사용하는 연산자</a:t>
            </a:r>
            <a:endPara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r>
              <a:rPr lang="ko-KR" altLang="en-US"/>
              <a:t>updateOne 함수를 사용할 때 값을 수정하기 위해 연산자를 함께 사용</a:t>
            </a: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marL="447675" lvl="2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29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61962" y="1057274"/>
            <a:ext cx="1885950" cy="600075"/>
          </a:xfrm>
          <a:prstGeom prst="rect">
            <a:avLst/>
          </a:prstGeom>
        </p:spPr>
      </p:pic>
      <p:pic>
        <p:nvPicPr>
          <p:cNvPr id="30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23900" y="2462212"/>
            <a:ext cx="7696200" cy="1933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719572" y="3429000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게시판 기능 개선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719572" y="1984276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04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4.</a:t>
            </a:r>
            <a:r>
              <a:rPr lang="ko-KR" altLang="en-US"/>
              <a:t> 게시판 기능 개선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정적 파일 사용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정적은 사람이 한 번 작성한 내용이 항상 동일하게 보이게 만드는 것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html 파일은 대표적인 정적 파일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동적인 데이터가 출력되도록 한 것이 ‘ejs’ 파일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express에서는 이미지나 CSS와 같은 정적인 파일을 제공하기 위해 ‘express.static’ 미들웨어 함수를 사용</a:t>
            </a: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marL="447675" lvl="2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38150" y="3429000"/>
            <a:ext cx="8267700" cy="771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4.</a:t>
            </a:r>
            <a:r>
              <a:rPr lang="ko-KR" altLang="en-US"/>
              <a:t> 게시판 기능 개선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정적 파일 사용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‘app.use’로 시작하는 코드는 무조건 미들웨어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‘server.js’ 파일로 이동하여 코드 추가</a:t>
            </a: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marL="447675" lvl="2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9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2437" y="2395537"/>
            <a:ext cx="8239125" cy="3952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4.</a:t>
            </a:r>
            <a:r>
              <a:rPr lang="ko-KR" altLang="en-US"/>
              <a:t> 게시판 기능 개선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정적 파일 사용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‘public’ 폴더를 생성하고 ‘public’ 폴더 위치에 ‘poem.txt’ 파일 추가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서버를 실행하고 주소창에 ‘http://localhost:8080/poem.txt’를 입력하여 접속</a:t>
            </a: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marL="447675" lvl="2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20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2436" y="2528887"/>
            <a:ext cx="8239125" cy="3629025"/>
          </a:xfrm>
          <a:prstGeom prst="rect">
            <a:avLst/>
          </a:prstGeom>
        </p:spPr>
      </p:pic>
      <p:pic>
        <p:nvPicPr>
          <p:cNvPr id="21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0" y="3900487"/>
            <a:ext cx="4467225" cy="26003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4.</a:t>
            </a:r>
            <a:r>
              <a:rPr lang="ko-KR" altLang="en-US"/>
              <a:t> 게시판 기능 개선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정적 파일 사용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스타일시트(CSS) 파일을 정적 파일로 만들어서 적용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public 폴더에 ‘style.css’ 파일을 생성하고 작성</a:t>
            </a: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marL="447675" lvl="2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2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2437" y="2586037"/>
            <a:ext cx="8239125" cy="19716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4.</a:t>
            </a:r>
            <a:r>
              <a:rPr lang="ko-KR" altLang="en-US"/>
              <a:t> 게시판 기능 개선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정적 파일 사용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‘style.css’ 파일과 같은 파일은 폰트 설정을 적용해야 하므로 각각의 ‘ejs’ 파일에 링크 코드 추가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‘list.ejs’ 파일을 실행하고 코드 한 줄 추가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주소창에 ‘http://localhost:8080/list’를 입력하여 접속해 게시판 페이지 요청</a:t>
            </a: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marL="447675" lvl="2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2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78638" y="3079229"/>
            <a:ext cx="6805573" cy="2680741"/>
          </a:xfrm>
          <a:prstGeom prst="rect">
            <a:avLst/>
          </a:prstGeom>
        </p:spPr>
      </p:pic>
      <p:pic>
        <p:nvPicPr>
          <p:cNvPr id="24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324241" y="3914774"/>
            <a:ext cx="3634334" cy="2800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4.</a:t>
            </a:r>
            <a:r>
              <a:rPr lang="ko-KR" altLang="en-US"/>
              <a:t> 게시판 기능 개선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index 파일 확장자 변경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‘Index.html’ 파일을 ‘index.ejs’로 확장자만 변경하고, views 폴더 위치로 이동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‘server.js’ 파일에서 루트 라우터 코드를 변경</a:t>
            </a: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marL="447675" lvl="2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2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04661" y="2605238"/>
            <a:ext cx="2067326" cy="1647524"/>
          </a:xfrm>
          <a:prstGeom prst="rect">
            <a:avLst/>
          </a:prstGeom>
        </p:spPr>
      </p:pic>
      <p:pic>
        <p:nvPicPr>
          <p:cNvPr id="26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994960" y="2648351"/>
            <a:ext cx="5401979" cy="1885148"/>
          </a:xfrm>
          <a:prstGeom prst="rect">
            <a:avLst/>
          </a:prstGeom>
        </p:spPr>
      </p:pic>
      <p:pic>
        <p:nvPicPr>
          <p:cNvPr id="27" name=""/>
          <p:cNvPicPr>
            <a:picLocks noChangeAspect="1"/>
          </p:cNvPicPr>
          <p:nvPr/>
        </p:nvPicPr>
        <p:blipFill rotWithShape="1">
          <a:blip r:embed="rId4"/>
          <a:srcRect b="34360"/>
          <a:stretch>
            <a:fillRect/>
          </a:stretch>
        </p:blipFill>
        <p:spPr>
          <a:xfrm>
            <a:off x="2690812" y="4642586"/>
            <a:ext cx="3762375" cy="17105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4.</a:t>
            </a:r>
            <a:r>
              <a:rPr lang="ko-KR" altLang="en-US"/>
              <a:t> 게시판 기능 개선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Navbar 파일 분리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views 폴더에 ‘menu.html’이라는 이름의 파일을 생성하고 ‘list.ejs’ 파일에 &lt;body&gt;&lt;/body&gt; 태그 내부에 있는 &lt;nav&gt;&lt;/nav&gt; 사이의 코드를 복사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일괄적인 스타일 적용을 위해 추가로 &lt;nav&gt; 위에 있는 &lt;link …&gt; 코드도 함께 복사</a:t>
            </a: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marL="447675" lvl="2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2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871662" y="2676525"/>
            <a:ext cx="5400675" cy="3257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4.</a:t>
            </a:r>
            <a:r>
              <a:rPr lang="ko-KR" altLang="en-US"/>
              <a:t> 게시판 기능 개선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89887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Navbar 파일 분리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ejs에서 include 함수를 사용하여 특정 파일 포함</a:t>
            </a:r>
            <a:endParaRPr lang="ko-KR" altLang="en-US"/>
          </a:p>
          <a:p>
            <a:pPr lvl="1">
              <a:defRPr/>
            </a:pPr>
            <a:r>
              <a:rPr lang="en-US" altLang="ko-KR"/>
              <a:t>‘</a:t>
            </a:r>
            <a:r>
              <a:rPr lang="ko-KR" altLang="en-US"/>
              <a:t>list.ejs’ 파일의 &lt;nav&gt;&lt;/nav&gt; 코드를 삭제 후 &lt;%-include(‘menu.html’) %&gt; 코드 추가</a:t>
            </a: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marL="447675" lvl="2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29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66725" y="2457450"/>
            <a:ext cx="8210550" cy="723900"/>
          </a:xfrm>
          <a:prstGeom prst="rect">
            <a:avLst/>
          </a:prstGeom>
        </p:spPr>
      </p:pic>
      <p:pic>
        <p:nvPicPr>
          <p:cNvPr id="30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50596" y="3276600"/>
            <a:ext cx="4556608" cy="2857681"/>
          </a:xfrm>
          <a:prstGeom prst="rect">
            <a:avLst/>
          </a:prstGeom>
        </p:spPr>
      </p:pic>
      <p:pic>
        <p:nvPicPr>
          <p:cNvPr id="31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057773" y="3822052"/>
            <a:ext cx="3676651" cy="27095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4.</a:t>
            </a:r>
            <a:r>
              <a:rPr lang="ko-KR" altLang="en-US"/>
              <a:t> 게시판 기능 개선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89887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Navbar 파일 분리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같은 방법으로 나머지 ‘ejs’ 파일(index.ejs, enter.ejs, edit.ejs, content.ejs)도 동일하게 적용</a:t>
            </a: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marL="447675" lvl="2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32" name=""/>
          <p:cNvPicPr>
            <a:picLocks noChangeAspect="1"/>
          </p:cNvPicPr>
          <p:nvPr/>
        </p:nvPicPr>
        <p:blipFill rotWithShape="1">
          <a:blip r:embed="rId2"/>
          <a:srcRect b="50000"/>
          <a:stretch>
            <a:fillRect/>
          </a:stretch>
        </p:blipFill>
        <p:spPr>
          <a:xfrm>
            <a:off x="257800" y="2309412"/>
            <a:ext cx="4314200" cy="3725075"/>
          </a:xfrm>
          <a:prstGeom prst="rect">
            <a:avLst/>
          </a:prstGeom>
        </p:spPr>
      </p:pic>
      <p:pic>
        <p:nvPicPr>
          <p:cNvPr id="33" name=""/>
          <p:cNvPicPr>
            <a:picLocks noChangeAspect="1"/>
          </p:cNvPicPr>
          <p:nvPr/>
        </p:nvPicPr>
        <p:blipFill rotWithShape="1">
          <a:blip r:embed="rId3"/>
          <a:srcRect t="50000"/>
          <a:stretch>
            <a:fillRect/>
          </a:stretch>
        </p:blipFill>
        <p:spPr>
          <a:xfrm>
            <a:off x="4572000" y="2280836"/>
            <a:ext cx="4314200" cy="3725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4.</a:t>
            </a:r>
            <a:r>
              <a:rPr lang="ko-KR" altLang="en-US"/>
              <a:t> 게시판 기능 개선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3417837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Navbar 각 메뉴 링크 추가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이전에 부트스트랩을 사용하여 추가한 Navbar가 장식만이    아닌 실제 기능을 할 수 있도록 링크 추가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‘menu.html’ 파일로 이동</a:t>
            </a: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marL="447675" lvl="2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3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832063" y="1311427"/>
            <a:ext cx="5246845" cy="53019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4.</a:t>
            </a:r>
            <a:r>
              <a:rPr lang="ko-KR" altLang="en-US"/>
              <a:t> 게시판 기능 개선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3417837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Navbar 각 메뉴 링크 추가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‘http://localhost:8080’를 입력하여 접속해 메뉴의 이름 변경과 링크 기능이 정상적으로 동작하는지 확인</a:t>
            </a: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marL="447675" lvl="2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3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329745" y="1152525"/>
            <a:ext cx="4102064" cy="5467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4.</a:t>
            </a:r>
            <a:r>
              <a:rPr lang="ko-KR" altLang="en-US"/>
              <a:t> 게시판 기능 개선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7951737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게시판 목록 화면에 글쓰기 버튼 배치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게시판 목록 하단 오른쪽에 &lt;글쓰기&gt; 버튼을 배치하기 위해 ‘list.ejs’ 파일로 이동하여 코드 추가</a:t>
            </a: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marL="447675" lvl="2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grpSp>
        <p:nvGrpSpPr>
          <p:cNvPr id="42" name=""/>
          <p:cNvGrpSpPr/>
          <p:nvPr/>
        </p:nvGrpSpPr>
        <p:grpSpPr>
          <a:xfrm rot="0">
            <a:off x="66675" y="2239334"/>
            <a:ext cx="6141982" cy="3046081"/>
            <a:chOff x="66675" y="2239334"/>
            <a:chExt cx="6141982" cy="3046081"/>
          </a:xfrm>
        </p:grpSpPr>
        <p:pic>
          <p:nvPicPr>
            <p:cNvPr id="36" name="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66675" y="2239334"/>
              <a:ext cx="6141982" cy="3046081"/>
            </a:xfrm>
            <a:prstGeom prst="rect">
              <a:avLst/>
            </a:prstGeom>
          </p:spPr>
        </p:pic>
        <p:grpSp>
          <p:nvGrpSpPr>
            <p:cNvPr id="41" name=""/>
            <p:cNvGrpSpPr/>
            <p:nvPr/>
          </p:nvGrpSpPr>
          <p:grpSpPr>
            <a:xfrm rot="0">
              <a:off x="4572000" y="2447925"/>
              <a:ext cx="285750" cy="2733675"/>
              <a:chOff x="4572000" y="2447925"/>
              <a:chExt cx="285750" cy="2733675"/>
            </a:xfrm>
          </p:grpSpPr>
          <p:sp>
            <p:nvSpPr>
              <p:cNvPr id="38" name=""/>
              <p:cNvSpPr/>
              <p:nvPr/>
            </p:nvSpPr>
            <p:spPr>
              <a:xfrm>
                <a:off x="4572000" y="2447925"/>
                <a:ext cx="285750" cy="200025"/>
              </a:xfrm>
              <a:prstGeom prst="rect">
                <a:avLst/>
              </a:prstGeom>
              <a:solidFill>
                <a:srgbClr val="fef8e2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 lvl="0">
                  <a:defRPr/>
                </a:pPr>
                <a:endParaRPr/>
              </a:p>
            </p:txBody>
          </p:sp>
          <p:sp>
            <p:nvSpPr>
              <p:cNvPr id="39" name=""/>
              <p:cNvSpPr/>
              <p:nvPr/>
            </p:nvSpPr>
            <p:spPr>
              <a:xfrm>
                <a:off x="4572000" y="4981575"/>
                <a:ext cx="285750" cy="200025"/>
              </a:xfrm>
              <a:prstGeom prst="rect">
                <a:avLst/>
              </a:prstGeom>
              <a:solidFill>
                <a:srgbClr val="fef8e2">
                  <a:alpha val="100000"/>
                </a:srgbClr>
              </a:solidFill>
              <a:ln w="25400" cap="flat" cmpd="sng" algn="ctr">
                <a:noFill/>
                <a:prstDash val="solid"/>
              </a:ln>
            </p:spPr>
            <p:txBody>
              <a:bodyPr/>
              <a:p>
                <a:pPr marL="0" lvl="0" indent="0" algn="l" rtl="0" eaLnBrk="1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/>
                </a:pPr>
                <a:endParaRPr xmlns:mc="http://schemas.openxmlformats.org/markup-compatibility/2006" xmlns:hp="http://schemas.haansoft.com/office/presentation/8.0" kumimoji="0" sz="2000" b="0" i="0" u="none" strike="noStrike" kern="1200" cap="none" spc="0" normalizeH="0" baseline="0" mc:Ignorable="hp" hp:hslEmbossed="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endParaRPr>
              </a:p>
            </p:txBody>
          </p:sp>
        </p:grpSp>
      </p:grpSp>
      <p:pic>
        <p:nvPicPr>
          <p:cNvPr id="3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918670" y="3790705"/>
            <a:ext cx="3035287" cy="28865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4.</a:t>
            </a:r>
            <a:r>
              <a:rPr lang="ko-KR" altLang="en-US"/>
              <a:t> 게시판 기능 개선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51787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게시판 목록 화면에 글쓰기 버튼 배치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&lt;글쓰기&gt; 버튼을 클릭하면 게시물을 추가할 수 있는 페이지로 이동할 수 있는 기능 추가</a:t>
            </a: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marL="447675" lvl="2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4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24838" y="2181647"/>
            <a:ext cx="6598822" cy="3980604"/>
          </a:xfrm>
          <a:prstGeom prst="rect">
            <a:avLst/>
          </a:prstGeom>
        </p:spPr>
      </p:pic>
      <p:pic>
        <p:nvPicPr>
          <p:cNvPr id="44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294187" y="3505200"/>
            <a:ext cx="3584827" cy="3257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4.</a:t>
            </a:r>
            <a:r>
              <a:rPr lang="ko-KR" altLang="en-US"/>
              <a:t> 게시판 기능 개선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51787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게시판 목록 화면에 글쓰기 버튼 배치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&lt;글쓰기&gt; 버튼을 클릭하면 게시물을 추가할 수 있는 페이지로 이동할 수 있는 기능 추가</a:t>
            </a: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marL="447675" lvl="2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4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24838" y="2181647"/>
            <a:ext cx="6598822" cy="3980604"/>
          </a:xfrm>
          <a:prstGeom prst="rect">
            <a:avLst/>
          </a:prstGeom>
        </p:spPr>
      </p:pic>
      <p:pic>
        <p:nvPicPr>
          <p:cNvPr id="44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370262" y="3505200"/>
            <a:ext cx="3584827" cy="3257550"/>
          </a:xfrm>
          <a:prstGeom prst="rect">
            <a:avLst/>
          </a:prstGeom>
        </p:spPr>
      </p:pic>
      <p:pic>
        <p:nvPicPr>
          <p:cNvPr id="45" name=""/>
          <p:cNvPicPr>
            <a:picLocks noChangeAspect="1"/>
          </p:cNvPicPr>
          <p:nvPr/>
        </p:nvPicPr>
        <p:blipFill rotWithShape="1">
          <a:blip r:embed="rId4"/>
          <a:srcRect l="1430" t="990" r="2150" b="1650"/>
          <a:stretch>
            <a:fillRect/>
          </a:stretch>
        </p:blipFill>
        <p:spPr>
          <a:xfrm>
            <a:off x="6296025" y="2367555"/>
            <a:ext cx="2562225" cy="28086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4.</a:t>
            </a:r>
            <a:r>
              <a:rPr lang="ko-KR" altLang="en-US"/>
              <a:t> 게시판 기능 개선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51787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게시판 목록 화면에 글쓰기 버튼 배치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저장 후 표시되는 화면은 데이터 저장 확인용 임시 페이지이므로 교체해야 함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데이터 저장이 완료되면 자동으로 페이지가 넘어갈 수 있도록 코드 수정</a:t>
            </a: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marL="447675" lvl="2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4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0076" y="2403088"/>
            <a:ext cx="3505200" cy="1025912"/>
          </a:xfrm>
          <a:prstGeom prst="rect">
            <a:avLst/>
          </a:prstGeom>
        </p:spPr>
      </p:pic>
      <p:grpSp>
        <p:nvGrpSpPr>
          <p:cNvPr id="49" name=""/>
          <p:cNvGrpSpPr/>
          <p:nvPr/>
        </p:nvGrpSpPr>
        <p:grpSpPr>
          <a:xfrm rot="0">
            <a:off x="4119537" y="2381250"/>
            <a:ext cx="4495851" cy="4233863"/>
            <a:chOff x="423862" y="1819275"/>
            <a:chExt cx="6619875" cy="6234113"/>
          </a:xfrm>
        </p:grpSpPr>
        <p:pic>
          <p:nvPicPr>
            <p:cNvPr id="47" name=""/>
            <p:cNvPicPr>
              <a:picLocks noChangeAspect="1"/>
            </p:cNvPicPr>
            <p:nvPr/>
          </p:nvPicPr>
          <p:blipFill rotWithShape="1">
            <a:blip r:embed="rId3"/>
            <a:srcRect r="19930"/>
            <a:stretch>
              <a:fillRect/>
            </a:stretch>
          </p:blipFill>
          <p:spPr>
            <a:xfrm>
              <a:off x="461962" y="1819275"/>
              <a:ext cx="6581775" cy="3219450"/>
            </a:xfrm>
            <a:prstGeom prst="rect">
              <a:avLst/>
            </a:prstGeom>
          </p:spPr>
        </p:pic>
        <p:pic>
          <p:nvPicPr>
            <p:cNvPr id="48" name=""/>
            <p:cNvPicPr>
              <a:picLocks noChangeAspect="1"/>
            </p:cNvPicPr>
            <p:nvPr/>
          </p:nvPicPr>
          <p:blipFill rotWithShape="1">
            <a:blip r:embed="rId4"/>
            <a:srcRect r="19470"/>
            <a:stretch>
              <a:fillRect/>
            </a:stretch>
          </p:blipFill>
          <p:spPr>
            <a:xfrm>
              <a:off x="423862" y="4900613"/>
              <a:ext cx="6619874" cy="3152775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4.</a:t>
            </a:r>
            <a:r>
              <a:rPr lang="ko-KR" altLang="en-US"/>
              <a:t> 게시판 기능 개선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51787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게시판 목록 화면에 글쓰기 버튼 배치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서버를 재시작하고 게시물 추가</a:t>
            </a: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marL="447675" lvl="2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50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76312" y="2194337"/>
            <a:ext cx="7191374" cy="42219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719572" y="2959531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en-US" altLang="ko-KR" sz="6900"/>
              <a:t>Q&amp;A</a:t>
            </a:r>
            <a:endParaRPr lang="en-US" altLang="ko-KR" sz="6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1268</ep:Words>
  <ep:PresentationFormat>화면 슬라이드 쇼(4:3)</ep:PresentationFormat>
  <ep:Paragraphs>215</ep:Paragraphs>
  <ep:Slides>61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61</vt:i4>
      </vt:variant>
    </vt:vector>
  </ep:HeadingPairs>
  <ep:TitlesOfParts>
    <vt:vector size="62" baseType="lpstr">
      <vt:lpstr>Office 테마</vt:lpstr>
      <vt:lpstr>슬라이드 1</vt:lpstr>
      <vt:lpstr>슬라이드 2</vt:lpstr>
      <vt:lpstr>슬라이드 3</vt:lpstr>
      <vt:lpstr>슬라이드 4</vt:lpstr>
      <vt:lpstr>1. 게시물의 내용 페이지 생성</vt:lpstr>
      <vt:lpstr>1. 게시물의 내용 페이지 생성</vt:lpstr>
      <vt:lpstr>1. 게시물의 내용 페이지 생성</vt:lpstr>
      <vt:lpstr>1. 게시물의 내용 페이지 생성</vt:lpstr>
      <vt:lpstr>1. 게시물의 내용 페이지 생성</vt:lpstr>
      <vt:lpstr>1. 게시물의 내용 페이지 생성</vt:lpstr>
      <vt:lpstr>1. 게시물의 내용 페이지 생성</vt:lpstr>
      <vt:lpstr>슬라이드 12</vt:lpstr>
      <vt:lpstr>2. 시멘틱 url 방식의 매개변수 처리</vt:lpstr>
      <vt:lpstr>2. 시멘틱 url 방식의 매개변수 처리</vt:lpstr>
      <vt:lpstr>2. 시멘틱 url 방식의 매개변수 처리</vt:lpstr>
      <vt:lpstr>2. 시멘틱 url 방식의 매개변수 처리</vt:lpstr>
      <vt:lpstr>2. 시멘틱 url 방식의 매개변수 처리</vt:lpstr>
      <vt:lpstr>2. 시멘틱 url 방식의 매개변수 처리</vt:lpstr>
      <vt:lpstr>2. 시멘틱 url 방식의 매개변수 처리</vt:lpstr>
      <vt:lpstr>2. 시멘틱 url 방식의 매개변수 처리</vt:lpstr>
      <vt:lpstr>2. 시멘틱 url 방식의 매개변수 처리</vt:lpstr>
      <vt:lpstr>2. 시멘틱 url 방식의 매개변수 처리</vt:lpstr>
      <vt:lpstr>2. 시멘틱 url 방식의 매개변수 처리</vt:lpstr>
      <vt:lpstr>슬라이드 24</vt:lpstr>
      <vt:lpstr>3. 게시물 수정</vt:lpstr>
      <vt:lpstr>3. 게시물 수정</vt:lpstr>
      <vt:lpstr>3. 게시물 수정</vt:lpstr>
      <vt:lpstr>3. 게시물 수정</vt:lpstr>
      <vt:lpstr>3. 게시물 수정</vt:lpstr>
      <vt:lpstr>3. 게시물 수정</vt:lpstr>
      <vt:lpstr>3. 게시물 수정</vt:lpstr>
      <vt:lpstr>3. 게시물 수정</vt:lpstr>
      <vt:lpstr>3. 게시물 수정</vt:lpstr>
      <vt:lpstr>3. 게시물 수정</vt:lpstr>
      <vt:lpstr>3. 게시물 수정</vt:lpstr>
      <vt:lpstr>3. 게시물 수정</vt:lpstr>
      <vt:lpstr>3. 게시물 수정</vt:lpstr>
      <vt:lpstr>3. 게시물 수정</vt:lpstr>
      <vt:lpstr>3. 게시물 수정</vt:lpstr>
      <vt:lpstr>3. 게시물 수정</vt:lpstr>
      <vt:lpstr>3. 게시물 수정</vt:lpstr>
      <vt:lpstr>3. 게시물 수정</vt:lpstr>
      <vt:lpstr>3. 게시물 수정</vt:lpstr>
      <vt:lpstr>슬라이드 44</vt:lpstr>
      <vt:lpstr>4. 게시판 기능 개선</vt:lpstr>
      <vt:lpstr>4. 게시판 기능 개선</vt:lpstr>
      <vt:lpstr>4. 게시판 기능 개선</vt:lpstr>
      <vt:lpstr>4. 게시판 기능 개선</vt:lpstr>
      <vt:lpstr>4. 게시판 기능 개선</vt:lpstr>
      <vt:lpstr>4. 게시판 기능 개선</vt:lpstr>
      <vt:lpstr>4. 게시판 기능 개선</vt:lpstr>
      <vt:lpstr>4. 게시판 기능 개선</vt:lpstr>
      <vt:lpstr>4. 게시판 기능 개선</vt:lpstr>
      <vt:lpstr>4. 게시판 기능 개선</vt:lpstr>
      <vt:lpstr>4. 게시판 기능 개선</vt:lpstr>
      <vt:lpstr>4. 게시판 기능 개선</vt:lpstr>
      <vt:lpstr>4. 게시판 기능 개선</vt:lpstr>
      <vt:lpstr>4. 게시판 기능 개선</vt:lpstr>
      <vt:lpstr>4. 게시판 기능 개선</vt:lpstr>
      <vt:lpstr>4. 게시판 기능 개선</vt:lpstr>
      <vt:lpstr>슬라이드 61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2007-11-27T23:54:21.000</dcterms:created>
  <dc:creator>sh</dc:creator>
  <cp:lastModifiedBy>user</cp:lastModifiedBy>
  <dcterms:modified xsi:type="dcterms:W3CDTF">2023-07-07T08:03:39.427</dcterms:modified>
  <cp:revision>1421</cp:revision>
  <dc:title>PowerPoint Template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